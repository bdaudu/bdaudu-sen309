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93" r:id="rId2"/>
    <p:sldId id="295" r:id="rId3"/>
    <p:sldId id="297" r:id="rId4"/>
    <p:sldId id="299" r:id="rId5"/>
    <p:sldId id="300" r:id="rId6"/>
    <p:sldId id="298" r:id="rId7"/>
    <p:sldId id="301" r:id="rId8"/>
    <p:sldId id="302" r:id="rId9"/>
    <p:sldId id="303" r:id="rId10"/>
    <p:sldId id="304" r:id="rId11"/>
    <p:sldId id="306" r:id="rId12"/>
    <p:sldId id="307" r:id="rId13"/>
    <p:sldId id="308" r:id="rId14"/>
    <p:sldId id="305" r:id="rId15"/>
    <p:sldId id="309" r:id="rId16"/>
    <p:sldId id="310" r:id="rId17"/>
    <p:sldId id="311" r:id="rId18"/>
    <p:sldId id="312" r:id="rId19"/>
    <p:sldId id="313" r:id="rId20"/>
    <p:sldId id="315" r:id="rId21"/>
    <p:sldId id="316" r:id="rId22"/>
    <p:sldId id="317" r:id="rId23"/>
    <p:sldId id="318" r:id="rId24"/>
    <p:sldId id="319" r:id="rId25"/>
    <p:sldId id="320" r:id="rId26"/>
    <p:sldId id="322" r:id="rId27"/>
    <p:sldId id="321" r:id="rId28"/>
    <p:sldId id="32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3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496" y="3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01634-0A29-4B0D-A1BE-1AF8C525D3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AC38087-B73D-4343-B0AE-126945A50183}">
      <dgm:prSet/>
      <dgm:spPr/>
      <dgm:t>
        <a:bodyPr/>
        <a:lstStyle/>
        <a:p>
          <a:r>
            <a:rPr lang="en-US"/>
            <a:t>Uninformed Search Algorithms</a:t>
          </a:r>
        </a:p>
      </dgm:t>
    </dgm:pt>
    <dgm:pt modelId="{73F42671-D9A4-4E5B-92A7-8B249847044F}" type="parTrans" cxnId="{94534638-FBA4-47C2-8C99-62B293FF1F10}">
      <dgm:prSet/>
      <dgm:spPr/>
      <dgm:t>
        <a:bodyPr/>
        <a:lstStyle/>
        <a:p>
          <a:endParaRPr lang="en-US"/>
        </a:p>
      </dgm:t>
    </dgm:pt>
    <dgm:pt modelId="{6AA32C13-3C83-4814-AD07-EEF77A86220D}" type="sibTrans" cxnId="{94534638-FBA4-47C2-8C99-62B293FF1F10}">
      <dgm:prSet/>
      <dgm:spPr/>
      <dgm:t>
        <a:bodyPr/>
        <a:lstStyle/>
        <a:p>
          <a:endParaRPr lang="en-US"/>
        </a:p>
      </dgm:t>
    </dgm:pt>
    <dgm:pt modelId="{6A5D4760-480E-45DA-88D9-039373057F4A}">
      <dgm:prSet/>
      <dgm:spPr/>
      <dgm:t>
        <a:bodyPr/>
        <a:lstStyle/>
        <a:p>
          <a:r>
            <a:rPr lang="en-US"/>
            <a:t>Informed Search Algorithms</a:t>
          </a:r>
        </a:p>
      </dgm:t>
    </dgm:pt>
    <dgm:pt modelId="{E2BB8426-850E-41D8-BEFC-E483D4B98F54}" type="parTrans" cxnId="{52FDA7FA-120B-4E5F-B4E4-63113A3C0C70}">
      <dgm:prSet/>
      <dgm:spPr/>
      <dgm:t>
        <a:bodyPr/>
        <a:lstStyle/>
        <a:p>
          <a:endParaRPr lang="en-US"/>
        </a:p>
      </dgm:t>
    </dgm:pt>
    <dgm:pt modelId="{E9EE22A3-DE5D-45EE-A5BD-73959C02B68B}" type="sibTrans" cxnId="{52FDA7FA-120B-4E5F-B4E4-63113A3C0C70}">
      <dgm:prSet/>
      <dgm:spPr/>
      <dgm:t>
        <a:bodyPr/>
        <a:lstStyle/>
        <a:p>
          <a:endParaRPr lang="en-US"/>
        </a:p>
      </dgm:t>
    </dgm:pt>
    <dgm:pt modelId="{8925E313-530D-42E7-A37C-4AC33BB5EB2F}" type="pres">
      <dgm:prSet presAssocID="{6BD01634-0A29-4B0D-A1BE-1AF8C525D3E1}" presName="root" presStyleCnt="0">
        <dgm:presLayoutVars>
          <dgm:dir/>
          <dgm:resizeHandles val="exact"/>
        </dgm:presLayoutVars>
      </dgm:prSet>
      <dgm:spPr/>
    </dgm:pt>
    <dgm:pt modelId="{6ADBC6AC-649A-419B-9AB7-478091EF0237}" type="pres">
      <dgm:prSet presAssocID="{CAC38087-B73D-4343-B0AE-126945A50183}" presName="compNode" presStyleCnt="0"/>
      <dgm:spPr/>
    </dgm:pt>
    <dgm:pt modelId="{D284639A-3B6E-425E-BC8A-A97EAA98E562}" type="pres">
      <dgm:prSet presAssocID="{CAC38087-B73D-4343-B0AE-126945A50183}" presName="bgRect" presStyleLbl="bgShp" presStyleIdx="0" presStyleCnt="2"/>
      <dgm:spPr/>
    </dgm:pt>
    <dgm:pt modelId="{537A86F0-B98F-4C1C-9C2D-030FF7E78339}" type="pres">
      <dgm:prSet presAssocID="{CAC38087-B73D-4343-B0AE-126945A5018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69FFED3-DF0D-4F13-895C-C52D9071F2FF}" type="pres">
      <dgm:prSet presAssocID="{CAC38087-B73D-4343-B0AE-126945A50183}" presName="spaceRect" presStyleCnt="0"/>
      <dgm:spPr/>
    </dgm:pt>
    <dgm:pt modelId="{04C52DBB-B122-4916-A2A6-BFAF70790189}" type="pres">
      <dgm:prSet presAssocID="{CAC38087-B73D-4343-B0AE-126945A50183}" presName="parTx" presStyleLbl="revTx" presStyleIdx="0" presStyleCnt="2">
        <dgm:presLayoutVars>
          <dgm:chMax val="0"/>
          <dgm:chPref val="0"/>
        </dgm:presLayoutVars>
      </dgm:prSet>
      <dgm:spPr/>
    </dgm:pt>
    <dgm:pt modelId="{8F8F2AE4-823B-42F9-BF91-5FB6EE3895EF}" type="pres">
      <dgm:prSet presAssocID="{6AA32C13-3C83-4814-AD07-EEF77A86220D}" presName="sibTrans" presStyleCnt="0"/>
      <dgm:spPr/>
    </dgm:pt>
    <dgm:pt modelId="{2EE6D426-58D6-4B2D-8BE2-7E892C033262}" type="pres">
      <dgm:prSet presAssocID="{6A5D4760-480E-45DA-88D9-039373057F4A}" presName="compNode" presStyleCnt="0"/>
      <dgm:spPr/>
    </dgm:pt>
    <dgm:pt modelId="{BC304E7F-EA2F-4A1C-A5F8-571AFF0845D1}" type="pres">
      <dgm:prSet presAssocID="{6A5D4760-480E-45DA-88D9-039373057F4A}" presName="bgRect" presStyleLbl="bgShp" presStyleIdx="1" presStyleCnt="2"/>
      <dgm:spPr/>
    </dgm:pt>
    <dgm:pt modelId="{F8C06297-3184-4060-80F0-F300DC825311}" type="pres">
      <dgm:prSet presAssocID="{6A5D4760-480E-45DA-88D9-039373057F4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C49F102-990A-4BC5-B10C-C0402BBDB244}" type="pres">
      <dgm:prSet presAssocID="{6A5D4760-480E-45DA-88D9-039373057F4A}" presName="spaceRect" presStyleCnt="0"/>
      <dgm:spPr/>
    </dgm:pt>
    <dgm:pt modelId="{F288C944-5ED8-444F-95D5-60C632FA239B}" type="pres">
      <dgm:prSet presAssocID="{6A5D4760-480E-45DA-88D9-039373057F4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ABF461C-C23E-48FA-AC65-934192C2D767}" type="presOf" srcId="{6A5D4760-480E-45DA-88D9-039373057F4A}" destId="{F288C944-5ED8-444F-95D5-60C632FA239B}" srcOrd="0" destOrd="0" presId="urn:microsoft.com/office/officeart/2018/2/layout/IconVerticalSolidList"/>
    <dgm:cxn modelId="{94534638-FBA4-47C2-8C99-62B293FF1F10}" srcId="{6BD01634-0A29-4B0D-A1BE-1AF8C525D3E1}" destId="{CAC38087-B73D-4343-B0AE-126945A50183}" srcOrd="0" destOrd="0" parTransId="{73F42671-D9A4-4E5B-92A7-8B249847044F}" sibTransId="{6AA32C13-3C83-4814-AD07-EEF77A86220D}"/>
    <dgm:cxn modelId="{2C0A7671-9D4C-409D-B054-F5515FA0D424}" type="presOf" srcId="{6BD01634-0A29-4B0D-A1BE-1AF8C525D3E1}" destId="{8925E313-530D-42E7-A37C-4AC33BB5EB2F}" srcOrd="0" destOrd="0" presId="urn:microsoft.com/office/officeart/2018/2/layout/IconVerticalSolidList"/>
    <dgm:cxn modelId="{163CF6CD-EBFD-4D71-A534-17FD03B659F9}" type="presOf" srcId="{CAC38087-B73D-4343-B0AE-126945A50183}" destId="{04C52DBB-B122-4916-A2A6-BFAF70790189}" srcOrd="0" destOrd="0" presId="urn:microsoft.com/office/officeart/2018/2/layout/IconVerticalSolidList"/>
    <dgm:cxn modelId="{52FDA7FA-120B-4E5F-B4E4-63113A3C0C70}" srcId="{6BD01634-0A29-4B0D-A1BE-1AF8C525D3E1}" destId="{6A5D4760-480E-45DA-88D9-039373057F4A}" srcOrd="1" destOrd="0" parTransId="{E2BB8426-850E-41D8-BEFC-E483D4B98F54}" sibTransId="{E9EE22A3-DE5D-45EE-A5BD-73959C02B68B}"/>
    <dgm:cxn modelId="{EE224E19-623F-4CBA-A915-026B1356EABE}" type="presParOf" srcId="{8925E313-530D-42E7-A37C-4AC33BB5EB2F}" destId="{6ADBC6AC-649A-419B-9AB7-478091EF0237}" srcOrd="0" destOrd="0" presId="urn:microsoft.com/office/officeart/2018/2/layout/IconVerticalSolidList"/>
    <dgm:cxn modelId="{249FF9DA-12D6-47F2-8FB0-E65F57F922DD}" type="presParOf" srcId="{6ADBC6AC-649A-419B-9AB7-478091EF0237}" destId="{D284639A-3B6E-425E-BC8A-A97EAA98E562}" srcOrd="0" destOrd="0" presId="urn:microsoft.com/office/officeart/2018/2/layout/IconVerticalSolidList"/>
    <dgm:cxn modelId="{8BF30E5D-F86C-46C0-9AC0-2AD32827AB0F}" type="presParOf" srcId="{6ADBC6AC-649A-419B-9AB7-478091EF0237}" destId="{537A86F0-B98F-4C1C-9C2D-030FF7E78339}" srcOrd="1" destOrd="0" presId="urn:microsoft.com/office/officeart/2018/2/layout/IconVerticalSolidList"/>
    <dgm:cxn modelId="{DC19D75F-14F2-4D3F-AD30-98E0252F2A6A}" type="presParOf" srcId="{6ADBC6AC-649A-419B-9AB7-478091EF0237}" destId="{B69FFED3-DF0D-4F13-895C-C52D9071F2FF}" srcOrd="2" destOrd="0" presId="urn:microsoft.com/office/officeart/2018/2/layout/IconVerticalSolidList"/>
    <dgm:cxn modelId="{A42E5E4B-1DB4-402A-86BB-A04AA5AB544A}" type="presParOf" srcId="{6ADBC6AC-649A-419B-9AB7-478091EF0237}" destId="{04C52DBB-B122-4916-A2A6-BFAF70790189}" srcOrd="3" destOrd="0" presId="urn:microsoft.com/office/officeart/2018/2/layout/IconVerticalSolidList"/>
    <dgm:cxn modelId="{5EBCEAC8-850D-43DF-9507-99D06A435C54}" type="presParOf" srcId="{8925E313-530D-42E7-A37C-4AC33BB5EB2F}" destId="{8F8F2AE4-823B-42F9-BF91-5FB6EE3895EF}" srcOrd="1" destOrd="0" presId="urn:microsoft.com/office/officeart/2018/2/layout/IconVerticalSolidList"/>
    <dgm:cxn modelId="{3737CC19-B1EF-44F1-837C-BADEC7DF0F1A}" type="presParOf" srcId="{8925E313-530D-42E7-A37C-4AC33BB5EB2F}" destId="{2EE6D426-58D6-4B2D-8BE2-7E892C033262}" srcOrd="2" destOrd="0" presId="urn:microsoft.com/office/officeart/2018/2/layout/IconVerticalSolidList"/>
    <dgm:cxn modelId="{AB278EBE-0B68-4284-94E1-801C369C33F1}" type="presParOf" srcId="{2EE6D426-58D6-4B2D-8BE2-7E892C033262}" destId="{BC304E7F-EA2F-4A1C-A5F8-571AFF0845D1}" srcOrd="0" destOrd="0" presId="urn:microsoft.com/office/officeart/2018/2/layout/IconVerticalSolidList"/>
    <dgm:cxn modelId="{1F7A021D-E200-4C82-82EE-0D9FE2290EB6}" type="presParOf" srcId="{2EE6D426-58D6-4B2D-8BE2-7E892C033262}" destId="{F8C06297-3184-4060-80F0-F300DC825311}" srcOrd="1" destOrd="0" presId="urn:microsoft.com/office/officeart/2018/2/layout/IconVerticalSolidList"/>
    <dgm:cxn modelId="{E237F9A2-3FF0-4E69-8C5D-335A162A21F1}" type="presParOf" srcId="{2EE6D426-58D6-4B2D-8BE2-7E892C033262}" destId="{CC49F102-990A-4BC5-B10C-C0402BBDB244}" srcOrd="2" destOrd="0" presId="urn:microsoft.com/office/officeart/2018/2/layout/IconVerticalSolidList"/>
    <dgm:cxn modelId="{08DC1324-D006-47FF-94D7-EBE6AE396EBE}" type="presParOf" srcId="{2EE6D426-58D6-4B2D-8BE2-7E892C033262}" destId="{F288C944-5ED8-444F-95D5-60C632FA23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4639A-3B6E-425E-BC8A-A97EAA98E562}">
      <dsp:nvSpPr>
        <dsp:cNvPr id="0" name=""/>
        <dsp:cNvSpPr/>
      </dsp:nvSpPr>
      <dsp:spPr>
        <a:xfrm>
          <a:off x="0" y="908268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A86F0-B98F-4C1C-9C2D-030FF7E78339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52DBB-B122-4916-A2A6-BFAF70790189}">
      <dsp:nvSpPr>
        <dsp:cNvPr id="0" name=""/>
        <dsp:cNvSpPr/>
      </dsp:nvSpPr>
      <dsp:spPr>
        <a:xfrm>
          <a:off x="1936708" y="908268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Uninformed Search Algorithms</a:t>
          </a:r>
        </a:p>
      </dsp:txBody>
      <dsp:txXfrm>
        <a:off x="1936708" y="908268"/>
        <a:ext cx="2747240" cy="1676804"/>
      </dsp:txXfrm>
    </dsp:sp>
    <dsp:sp modelId="{BC304E7F-EA2F-4A1C-A5F8-571AFF0845D1}">
      <dsp:nvSpPr>
        <dsp:cNvPr id="0" name=""/>
        <dsp:cNvSpPr/>
      </dsp:nvSpPr>
      <dsp:spPr>
        <a:xfrm>
          <a:off x="0" y="3004274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06297-3184-4060-80F0-F300DC825311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8C944-5ED8-444F-95D5-60C632FA239B}">
      <dsp:nvSpPr>
        <dsp:cNvPr id="0" name=""/>
        <dsp:cNvSpPr/>
      </dsp:nvSpPr>
      <dsp:spPr>
        <a:xfrm>
          <a:off x="1936708" y="3004274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Informed Search Algorithms</a:t>
          </a:r>
        </a:p>
      </dsp:txBody>
      <dsp:txXfrm>
        <a:off x="1936708" y="3004274"/>
        <a:ext cx="2747240" cy="1676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AE4EA-82F9-4556-9D02-3F0BB7C0892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E0B2A-BF77-4447-9CDE-E042742F4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2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E0B2A-BF77-4447-9CDE-E042742F45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1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5B3B2-2DE2-E0A1-5DFD-6D907507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A41B72-4F16-0D97-63D0-DE31CB0A0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009B529-CDD9-A700-4F84-688E6F04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9352" y="5486400"/>
            <a:ext cx="2004648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E8C59B87-4E23-ACC8-8CC2-4A33F9A3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1537" y="650160"/>
            <a:ext cx="2240924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BE29B-8174-1E06-AAF9-29CF0012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79493"/>
            <a:ext cx="3943350" cy="1325563"/>
          </a:xfrm>
        </p:spPr>
        <p:txBody>
          <a:bodyPr>
            <a:normAutofit/>
          </a:bodyPr>
          <a:lstStyle/>
          <a:p>
            <a:r>
              <a:rPr lang="en-US" dirty="0"/>
              <a:t>The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F6CB9-482E-9280-C8C9-37D739B8A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984443"/>
            <a:ext cx="7650569" cy="35019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/>
              <a:t>Start with a frontier that contains the initial state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Repeat: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	- if the frontier is empty, then no solution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	- Remove a node from the frontier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	- if node contains goal state, return the 				        solutions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	- Expand the node and resulting node to the 			  frontier</a:t>
            </a:r>
          </a:p>
        </p:txBody>
      </p:sp>
    </p:spTree>
    <p:extLst>
      <p:ext uri="{BB962C8B-B14F-4D97-AF65-F5344CB8AC3E}">
        <p14:creationId xmlns:p14="http://schemas.microsoft.com/office/powerpoint/2010/main" val="147070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A8003-6265-ED41-3BF9-922FE8CE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597F-173E-3379-1249-F908F45E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Find a path from A to 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92ADE2-9091-2388-599A-6646EEAF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81" y="1148317"/>
            <a:ext cx="5427916" cy="542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6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ABBF6-B85B-252A-83D0-B3719988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CDC77A-784D-1613-2DD8-D09210B6E507}"/>
              </a:ext>
            </a:extLst>
          </p:cNvPr>
          <p:cNvSpPr/>
          <p:nvPr/>
        </p:nvSpPr>
        <p:spPr>
          <a:xfrm>
            <a:off x="3494567" y="3926958"/>
            <a:ext cx="5550195" cy="25092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7538C9-80B2-10AE-6247-0A79580B032A}"/>
              </a:ext>
            </a:extLst>
          </p:cNvPr>
          <p:cNvSpPr/>
          <p:nvPr/>
        </p:nvSpPr>
        <p:spPr>
          <a:xfrm>
            <a:off x="264032" y="4252533"/>
            <a:ext cx="3230535" cy="744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is the solution</a:t>
            </a:r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E02B6-14A4-4BF1-928E-2D3C16F8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Find a path from A to 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165C6-35A5-CB19-A3FC-BF930E06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53" y="1204991"/>
            <a:ext cx="2509283" cy="250928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BD7E8E-06DE-14B5-549D-B74024406784}"/>
              </a:ext>
            </a:extLst>
          </p:cNvPr>
          <p:cNvSpPr/>
          <p:nvPr/>
        </p:nvSpPr>
        <p:spPr>
          <a:xfrm>
            <a:off x="627321" y="1748702"/>
            <a:ext cx="4054549" cy="121211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CD809-CFDC-DF2F-B467-5B0A5A579091}"/>
              </a:ext>
            </a:extLst>
          </p:cNvPr>
          <p:cNvSpPr txBox="1"/>
          <p:nvPr/>
        </p:nvSpPr>
        <p:spPr>
          <a:xfrm>
            <a:off x="627321" y="1748702"/>
            <a:ext cx="932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Frontier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307E48-7DDF-DD73-9A39-012EB3FEBFF4}"/>
              </a:ext>
            </a:extLst>
          </p:cNvPr>
          <p:cNvSpPr/>
          <p:nvPr/>
        </p:nvSpPr>
        <p:spPr>
          <a:xfrm>
            <a:off x="891362" y="2232884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EF0F7A-C032-D203-3E81-9D4E99095094}"/>
              </a:ext>
            </a:extLst>
          </p:cNvPr>
          <p:cNvSpPr/>
          <p:nvPr/>
        </p:nvSpPr>
        <p:spPr>
          <a:xfrm>
            <a:off x="389853" y="4433392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5C8C06-15CD-60BE-FD51-1DDF93D4EF71}"/>
              </a:ext>
            </a:extLst>
          </p:cNvPr>
          <p:cNvSpPr/>
          <p:nvPr/>
        </p:nvSpPr>
        <p:spPr>
          <a:xfrm>
            <a:off x="891361" y="2232884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D4E5F1-FDA2-A6BE-931E-8B2C6F2E42F9}"/>
              </a:ext>
            </a:extLst>
          </p:cNvPr>
          <p:cNvSpPr/>
          <p:nvPr/>
        </p:nvSpPr>
        <p:spPr>
          <a:xfrm>
            <a:off x="407577" y="4433392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56BD71-024D-594D-0E30-02D2E480FCC7}"/>
              </a:ext>
            </a:extLst>
          </p:cNvPr>
          <p:cNvSpPr/>
          <p:nvPr/>
        </p:nvSpPr>
        <p:spPr>
          <a:xfrm>
            <a:off x="891360" y="2231028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A43014-6F2F-9E9D-B923-363EC57A9E46}"/>
              </a:ext>
            </a:extLst>
          </p:cNvPr>
          <p:cNvSpPr/>
          <p:nvPr/>
        </p:nvSpPr>
        <p:spPr>
          <a:xfrm>
            <a:off x="1357417" y="2260446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5AB5B41-6F51-3399-444A-E3DF7F868522}"/>
              </a:ext>
            </a:extLst>
          </p:cNvPr>
          <p:cNvSpPr/>
          <p:nvPr/>
        </p:nvSpPr>
        <p:spPr>
          <a:xfrm>
            <a:off x="425301" y="444468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808CBB-B236-0AD5-D481-D24CF0E0A077}"/>
              </a:ext>
            </a:extLst>
          </p:cNvPr>
          <p:cNvSpPr/>
          <p:nvPr/>
        </p:nvSpPr>
        <p:spPr>
          <a:xfrm>
            <a:off x="1823472" y="2277068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916390-6F85-8F78-416A-CBCCE2A26221}"/>
              </a:ext>
            </a:extLst>
          </p:cNvPr>
          <p:cNvSpPr/>
          <p:nvPr/>
        </p:nvSpPr>
        <p:spPr>
          <a:xfrm>
            <a:off x="425300" y="4385187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86EACB-F07C-2C2E-D2B1-C1659CD7C49C}"/>
              </a:ext>
            </a:extLst>
          </p:cNvPr>
          <p:cNvSpPr/>
          <p:nvPr/>
        </p:nvSpPr>
        <p:spPr>
          <a:xfrm>
            <a:off x="2284204" y="2277068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B2BD58-D432-D7D9-BCD7-9AE4969DF469}"/>
              </a:ext>
            </a:extLst>
          </p:cNvPr>
          <p:cNvSpPr/>
          <p:nvPr/>
        </p:nvSpPr>
        <p:spPr>
          <a:xfrm>
            <a:off x="425302" y="4396484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BCDAFD-7519-89AF-37DA-8676B3711499}"/>
              </a:ext>
            </a:extLst>
          </p:cNvPr>
          <p:cNvSpPr txBox="1"/>
          <p:nvPr/>
        </p:nvSpPr>
        <p:spPr>
          <a:xfrm>
            <a:off x="99238" y="3696088"/>
            <a:ext cx="4582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Is this the Goal State?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AEFF3-4FB9-68B4-FE69-339272073CBB}"/>
              </a:ext>
            </a:extLst>
          </p:cNvPr>
          <p:cNvSpPr txBox="1"/>
          <p:nvPr/>
        </p:nvSpPr>
        <p:spPr>
          <a:xfrm>
            <a:off x="3494567" y="4002550"/>
            <a:ext cx="56494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/>
              <a:t>  Start with a frontier that contains the initial state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	Repeat: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		- if the frontier is empty, then no solution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		- Remove a node from the frontier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		- if node contains goal state, return the 				        solutions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		- Expand the node and resulting node to the 			  frontier</a:t>
            </a:r>
          </a:p>
        </p:txBody>
      </p:sp>
    </p:spTree>
    <p:extLst>
      <p:ext uri="{BB962C8B-B14F-4D97-AF65-F5344CB8AC3E}">
        <p14:creationId xmlns:p14="http://schemas.microsoft.com/office/powerpoint/2010/main" val="41853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 animBg="1"/>
      <p:bldP spid="4" grpId="0"/>
      <p:bldP spid="5" grpId="0" animBg="1"/>
      <p:bldP spid="5" grpId="1" animBg="1"/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6B338-CFA0-EAD8-EF50-0E0A4E80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353E-7AF8-9DD1-DBD9-6AF86399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87386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The Problem of this Approach</a:t>
            </a:r>
            <a:br>
              <a:rPr lang="en-US" sz="5300" b="1" dirty="0"/>
            </a:br>
            <a:r>
              <a:rPr lang="en-US" dirty="0"/>
              <a:t>Example: Find a path from A to 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B8C802-A8EE-AD7E-D17C-E7E97793DD80}"/>
              </a:ext>
            </a:extLst>
          </p:cNvPr>
          <p:cNvSpPr/>
          <p:nvPr/>
        </p:nvSpPr>
        <p:spPr>
          <a:xfrm>
            <a:off x="627321" y="1748702"/>
            <a:ext cx="4054549" cy="1212111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AF331-1E74-DFB7-2F87-9E7D624449AC}"/>
              </a:ext>
            </a:extLst>
          </p:cNvPr>
          <p:cNvSpPr txBox="1"/>
          <p:nvPr/>
        </p:nvSpPr>
        <p:spPr>
          <a:xfrm>
            <a:off x="627321" y="1748702"/>
            <a:ext cx="932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Frontier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0D6BA4-A7EF-BA2D-FBE3-BA4704B0F48E}"/>
              </a:ext>
            </a:extLst>
          </p:cNvPr>
          <p:cNvSpPr/>
          <p:nvPr/>
        </p:nvSpPr>
        <p:spPr>
          <a:xfrm>
            <a:off x="891362" y="2232884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276582-8418-1AC4-7DDA-5C86506A89C0}"/>
              </a:ext>
            </a:extLst>
          </p:cNvPr>
          <p:cNvSpPr/>
          <p:nvPr/>
        </p:nvSpPr>
        <p:spPr>
          <a:xfrm>
            <a:off x="898442" y="2228472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C702D7-877B-FDD9-86FE-46DD2F18FB1D}"/>
              </a:ext>
            </a:extLst>
          </p:cNvPr>
          <p:cNvSpPr/>
          <p:nvPr/>
        </p:nvSpPr>
        <p:spPr>
          <a:xfrm>
            <a:off x="1350341" y="2214342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202AE9-BA02-9F0A-C8A4-B5F4C6388A72}"/>
              </a:ext>
            </a:extLst>
          </p:cNvPr>
          <p:cNvSpPr/>
          <p:nvPr/>
        </p:nvSpPr>
        <p:spPr>
          <a:xfrm>
            <a:off x="1823480" y="222405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6C9281-75E5-F7AD-C897-5FA5AC77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536" y="1437127"/>
            <a:ext cx="3657607" cy="365760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5B0A18B8-443F-E83B-C03B-24EBA7E55548}"/>
              </a:ext>
            </a:extLst>
          </p:cNvPr>
          <p:cNvSpPr/>
          <p:nvPr/>
        </p:nvSpPr>
        <p:spPr>
          <a:xfrm>
            <a:off x="884282" y="2224060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5BFDBC7-153D-EB95-A6B8-68F88CF3B89E}"/>
              </a:ext>
            </a:extLst>
          </p:cNvPr>
          <p:cNvSpPr/>
          <p:nvPr/>
        </p:nvSpPr>
        <p:spPr>
          <a:xfrm>
            <a:off x="2313477" y="2228472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8671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5" grpId="1" animBg="1"/>
      <p:bldP spid="9" grpId="0" animBg="1"/>
      <p:bldP spid="9" grpId="1" animBg="1"/>
      <p:bldP spid="11" grpId="0" animBg="1"/>
      <p:bldP spid="12" grpId="0" animBg="1"/>
      <p:bldP spid="22" grpId="0" animBg="1"/>
      <p:bldP spid="22" grpId="1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6DB9F-0D9E-6D3A-0C24-0915341C7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A248E9D-4AD4-EEF0-E76A-204CA84EC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94797C-9016-29F8-0E74-D6727C982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9352" y="5486400"/>
            <a:ext cx="2004648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DFDAE33A-DDB5-0FCD-1129-FED80409B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1537" y="650160"/>
            <a:ext cx="2240924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61E47-65ED-3521-0233-F5B3A965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79493"/>
            <a:ext cx="39433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Revised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52945-6769-1F52-5472-848747A2D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984443"/>
            <a:ext cx="8387760" cy="44872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/>
              <a:t>Start with a frontier that contains the initial state</a:t>
            </a:r>
          </a:p>
          <a:p>
            <a:pPr>
              <a:lnSpc>
                <a:spcPct val="90000"/>
              </a:lnSpc>
            </a:pPr>
            <a:r>
              <a:rPr lang="en-US" sz="2700" dirty="0"/>
              <a:t>Start with an empty explored set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Repeat: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- if the frontier is empty, then no solution.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- Remove a node from the frontier.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- if node contains goal state, return the solutions.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- Add the node to the explored set.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- Expand the node, add resulting nodes to the 			  frontier, if they aren’t already in the frontier or the 		  explored set.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C35716-C114-6175-72C2-BD111753570D}"/>
              </a:ext>
            </a:extLst>
          </p:cNvPr>
          <p:cNvSpPr/>
          <p:nvPr/>
        </p:nvSpPr>
        <p:spPr>
          <a:xfrm>
            <a:off x="1332615" y="3820627"/>
            <a:ext cx="6166881" cy="39694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5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AAC1A-D3AA-3AB1-4EFB-213B2B2E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82B30-B28C-890D-DDC9-A0D5DB4DF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 dirty="0"/>
              <a:t>How to Remove from the </a:t>
            </a:r>
            <a:r>
              <a:rPr lang="en-US" sz="5700" dirty="0" err="1"/>
              <a:t>Froniter</a:t>
            </a:r>
            <a:endParaRPr lang="en-US" sz="5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5B2D0-B8DA-DCDE-58E5-85544A0AF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dirty="0"/>
              <a:t>Stack:- Last in First-out data type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dirty="0"/>
              <a:t>Queue:- First-in First-out data type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8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373C5-D66C-F4A8-395D-05381A85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E0C39F-5D6B-06A6-4F83-42C5896B0A32}"/>
              </a:ext>
            </a:extLst>
          </p:cNvPr>
          <p:cNvSpPr/>
          <p:nvPr/>
        </p:nvSpPr>
        <p:spPr>
          <a:xfrm>
            <a:off x="163033" y="2877511"/>
            <a:ext cx="4001382" cy="97087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69289D-4FED-FFE2-9D1F-DE0110E7AE98}"/>
              </a:ext>
            </a:extLst>
          </p:cNvPr>
          <p:cNvSpPr/>
          <p:nvPr/>
        </p:nvSpPr>
        <p:spPr>
          <a:xfrm>
            <a:off x="0" y="3926958"/>
            <a:ext cx="9044763" cy="286232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DFD1-ACD9-BBD5-C74F-7D53A1F8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091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Depth-First Search Algorithm </a:t>
            </a:r>
            <a:r>
              <a:rPr lang="en-US" sz="2700" b="1" dirty="0"/>
              <a:t>(stack datatype)</a:t>
            </a:r>
            <a:br>
              <a:rPr lang="en-US" sz="2800" dirty="0"/>
            </a:br>
            <a:r>
              <a:rPr lang="en-US" sz="2800" dirty="0"/>
              <a:t>Example: Find a path from A to 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217CB6-A420-5C41-9A4F-7F5BF44B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53" y="1204991"/>
            <a:ext cx="2509283" cy="250928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3BBC90-4B86-38F4-31A6-07D2910B578D}"/>
              </a:ext>
            </a:extLst>
          </p:cNvPr>
          <p:cNvSpPr/>
          <p:nvPr/>
        </p:nvSpPr>
        <p:spPr>
          <a:xfrm>
            <a:off x="202024" y="1230606"/>
            <a:ext cx="4001382" cy="97087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3D0EB-D1C9-7686-23DA-1A6CB51DFBC4}"/>
              </a:ext>
            </a:extLst>
          </p:cNvPr>
          <p:cNvSpPr txBox="1"/>
          <p:nvPr/>
        </p:nvSpPr>
        <p:spPr>
          <a:xfrm>
            <a:off x="272902" y="1207039"/>
            <a:ext cx="932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Frontier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00123E-E326-9978-A4C8-15D92FADF5F5}"/>
              </a:ext>
            </a:extLst>
          </p:cNvPr>
          <p:cNvSpPr/>
          <p:nvPr/>
        </p:nvSpPr>
        <p:spPr>
          <a:xfrm>
            <a:off x="324297" y="1579903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0CEDE1-875C-C36F-56AA-0C46D2D84BA8}"/>
              </a:ext>
            </a:extLst>
          </p:cNvPr>
          <p:cNvSpPr/>
          <p:nvPr/>
        </p:nvSpPr>
        <p:spPr>
          <a:xfrm>
            <a:off x="349112" y="1593505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7C922E-6B62-477E-63A0-FBB4EDD3D966}"/>
              </a:ext>
            </a:extLst>
          </p:cNvPr>
          <p:cNvSpPr/>
          <p:nvPr/>
        </p:nvSpPr>
        <p:spPr>
          <a:xfrm>
            <a:off x="372149" y="1589973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D9B3ED-A5D9-85DE-91AD-B852750812D1}"/>
              </a:ext>
            </a:extLst>
          </p:cNvPr>
          <p:cNvSpPr/>
          <p:nvPr/>
        </p:nvSpPr>
        <p:spPr>
          <a:xfrm>
            <a:off x="847952" y="158612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0E892F-7941-D726-BAE6-8E5651451E13}"/>
              </a:ext>
            </a:extLst>
          </p:cNvPr>
          <p:cNvSpPr/>
          <p:nvPr/>
        </p:nvSpPr>
        <p:spPr>
          <a:xfrm>
            <a:off x="347334" y="1593505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2552CC-E41A-8E65-47A3-8EF1C305C1BA}"/>
              </a:ext>
            </a:extLst>
          </p:cNvPr>
          <p:cNvSpPr/>
          <p:nvPr/>
        </p:nvSpPr>
        <p:spPr>
          <a:xfrm>
            <a:off x="860800" y="158612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73537-1538-43FB-9DB6-2880663F3883}"/>
              </a:ext>
            </a:extLst>
          </p:cNvPr>
          <p:cNvSpPr txBox="1"/>
          <p:nvPr/>
        </p:nvSpPr>
        <p:spPr>
          <a:xfrm>
            <a:off x="163033" y="4002550"/>
            <a:ext cx="89809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Start with a frontier that contains the initial state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Start with an empty explored set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Repeat: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if the frontier is empty, then no solution.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Remove a node from the frontier (Last-in First-out data type).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if node contains goal state, return the solutions.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Add the node to the explored set.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Expand the node, add resulting nodes to the frontier, if they aren’t already in the frontier or the explored set.</a:t>
            </a:r>
          </a:p>
          <a:p>
            <a:pPr>
              <a:lnSpc>
                <a:spcPct val="90000"/>
              </a:lnSpc>
            </a:pPr>
            <a:endParaRPr lang="en-US" sz="20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4C243-B44E-6098-7DF1-EC2E1246228D}"/>
              </a:ext>
            </a:extLst>
          </p:cNvPr>
          <p:cNvSpPr txBox="1"/>
          <p:nvPr/>
        </p:nvSpPr>
        <p:spPr>
          <a:xfrm>
            <a:off x="321655" y="2600667"/>
            <a:ext cx="1471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Explored set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BF0E13-FB96-8599-0BBA-6098915FB2FF}"/>
              </a:ext>
            </a:extLst>
          </p:cNvPr>
          <p:cNvSpPr/>
          <p:nvPr/>
        </p:nvSpPr>
        <p:spPr>
          <a:xfrm>
            <a:off x="321655" y="3149981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09992B-39C3-6D38-D6F2-70EAF6CA09DE}"/>
              </a:ext>
            </a:extLst>
          </p:cNvPr>
          <p:cNvSpPr/>
          <p:nvPr/>
        </p:nvSpPr>
        <p:spPr>
          <a:xfrm>
            <a:off x="776188" y="3149980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7332789-D80E-E7F9-9B9A-1ED38C30620E}"/>
              </a:ext>
            </a:extLst>
          </p:cNvPr>
          <p:cNvSpPr/>
          <p:nvPr/>
        </p:nvSpPr>
        <p:spPr>
          <a:xfrm>
            <a:off x="1264837" y="3164200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5407C71-F3C6-0371-ABA6-2AB59BEAC8A4}"/>
              </a:ext>
            </a:extLst>
          </p:cNvPr>
          <p:cNvSpPr/>
          <p:nvPr/>
        </p:nvSpPr>
        <p:spPr>
          <a:xfrm>
            <a:off x="1734233" y="314997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218ACF7-B788-DC4E-3A3B-B14F225B65EE}"/>
              </a:ext>
            </a:extLst>
          </p:cNvPr>
          <p:cNvSpPr/>
          <p:nvPr/>
        </p:nvSpPr>
        <p:spPr>
          <a:xfrm>
            <a:off x="2202715" y="3142320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92E5174-B83B-8DDC-234E-A20C96507558}"/>
              </a:ext>
            </a:extLst>
          </p:cNvPr>
          <p:cNvSpPr/>
          <p:nvPr/>
        </p:nvSpPr>
        <p:spPr>
          <a:xfrm>
            <a:off x="4737690" y="2380041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380211-588E-E810-F698-F0BF748E3741}"/>
              </a:ext>
            </a:extLst>
          </p:cNvPr>
          <p:cNvSpPr/>
          <p:nvPr/>
        </p:nvSpPr>
        <p:spPr>
          <a:xfrm>
            <a:off x="2833570" y="1145549"/>
            <a:ext cx="2569546" cy="115591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5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5" grpId="0" animBg="1"/>
      <p:bldP spid="15" grpId="1" animBg="1"/>
      <p:bldP spid="17" grpId="0" animBg="1"/>
      <p:bldP spid="17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09DB2-5A78-95E4-BA73-89FACFEAB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4C527D-0AFF-4E58-5A5B-7DF0C1E0FA59}"/>
              </a:ext>
            </a:extLst>
          </p:cNvPr>
          <p:cNvSpPr/>
          <p:nvPr/>
        </p:nvSpPr>
        <p:spPr>
          <a:xfrm>
            <a:off x="163033" y="2877511"/>
            <a:ext cx="4001382" cy="97087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F276DA-8FE2-143B-004A-B9D0351B51E0}"/>
              </a:ext>
            </a:extLst>
          </p:cNvPr>
          <p:cNvSpPr/>
          <p:nvPr/>
        </p:nvSpPr>
        <p:spPr>
          <a:xfrm>
            <a:off x="0" y="3926958"/>
            <a:ext cx="9044763" cy="286232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BC4E1-042C-DEEF-1EA0-1033248E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091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Breath-First Search Algorithm </a:t>
            </a:r>
            <a:r>
              <a:rPr lang="en-US" sz="2700" b="1" dirty="0"/>
              <a:t>(</a:t>
            </a:r>
            <a:r>
              <a:rPr lang="en-US" sz="2800" b="1" dirty="0"/>
              <a:t>Queue</a:t>
            </a:r>
            <a:r>
              <a:rPr lang="en-US" sz="2700" b="1" dirty="0"/>
              <a:t> datatype)</a:t>
            </a:r>
            <a:br>
              <a:rPr lang="en-US" sz="2800" dirty="0"/>
            </a:br>
            <a:r>
              <a:rPr lang="en-US" sz="2800" dirty="0"/>
              <a:t>Example: Find a path from A to 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E353C-EBF9-2560-5F71-31FFA7761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953" y="1204991"/>
            <a:ext cx="2509283" cy="250928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FFBB85-F9F0-D839-2D88-B13758C36163}"/>
              </a:ext>
            </a:extLst>
          </p:cNvPr>
          <p:cNvSpPr/>
          <p:nvPr/>
        </p:nvSpPr>
        <p:spPr>
          <a:xfrm>
            <a:off x="202024" y="1230606"/>
            <a:ext cx="4001382" cy="97087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B4C8B-752F-ABD7-7C54-1BBE76827827}"/>
              </a:ext>
            </a:extLst>
          </p:cNvPr>
          <p:cNvSpPr txBox="1"/>
          <p:nvPr/>
        </p:nvSpPr>
        <p:spPr>
          <a:xfrm>
            <a:off x="272902" y="1207039"/>
            <a:ext cx="932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Frontier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705E0E-E03C-0EFA-E49E-B886E92FAB0A}"/>
              </a:ext>
            </a:extLst>
          </p:cNvPr>
          <p:cNvSpPr/>
          <p:nvPr/>
        </p:nvSpPr>
        <p:spPr>
          <a:xfrm>
            <a:off x="391183" y="1567956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2CFB11-E793-F686-0C04-F61B101A94D7}"/>
              </a:ext>
            </a:extLst>
          </p:cNvPr>
          <p:cNvSpPr/>
          <p:nvPr/>
        </p:nvSpPr>
        <p:spPr>
          <a:xfrm>
            <a:off x="391182" y="1555341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1D0B75-2A3C-4491-A5FA-DD670EF6D34F}"/>
              </a:ext>
            </a:extLst>
          </p:cNvPr>
          <p:cNvSpPr/>
          <p:nvPr/>
        </p:nvSpPr>
        <p:spPr>
          <a:xfrm>
            <a:off x="399946" y="155927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F4DB35-27E5-6895-66F1-93B7FE37FF29}"/>
              </a:ext>
            </a:extLst>
          </p:cNvPr>
          <p:cNvSpPr/>
          <p:nvPr/>
        </p:nvSpPr>
        <p:spPr>
          <a:xfrm>
            <a:off x="851058" y="1555341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855C4E-9500-83FB-8D92-A37BFB7BF516}"/>
              </a:ext>
            </a:extLst>
          </p:cNvPr>
          <p:cNvSpPr/>
          <p:nvPr/>
        </p:nvSpPr>
        <p:spPr>
          <a:xfrm>
            <a:off x="1310934" y="153864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72EC35-7F9E-8D24-9E60-99C95537D5EA}"/>
              </a:ext>
            </a:extLst>
          </p:cNvPr>
          <p:cNvSpPr txBox="1"/>
          <p:nvPr/>
        </p:nvSpPr>
        <p:spPr>
          <a:xfrm>
            <a:off x="163033" y="4002550"/>
            <a:ext cx="89809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Start with a frontier that contains the initial state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Start with an empty explored set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Repeat: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if the frontier is empty, then no solution.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Remove a node from the frontier (First-in First-out data type).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if node contains goal state, return the solutions.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Add the node to the explored set.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	- Expand the node, add resulting nodes to the frontier, if they aren’t already in the frontier or the explored set.</a:t>
            </a:r>
          </a:p>
          <a:p>
            <a:pPr>
              <a:lnSpc>
                <a:spcPct val="90000"/>
              </a:lnSpc>
            </a:pPr>
            <a:endParaRPr lang="en-US" sz="20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DA181-D210-D266-D3ED-ABFFEBAD2427}"/>
              </a:ext>
            </a:extLst>
          </p:cNvPr>
          <p:cNvSpPr txBox="1"/>
          <p:nvPr/>
        </p:nvSpPr>
        <p:spPr>
          <a:xfrm>
            <a:off x="321655" y="2600667"/>
            <a:ext cx="1471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Explored set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BFF4CE-1CB4-247E-9504-63D38B10C777}"/>
              </a:ext>
            </a:extLst>
          </p:cNvPr>
          <p:cNvSpPr/>
          <p:nvPr/>
        </p:nvSpPr>
        <p:spPr>
          <a:xfrm>
            <a:off x="321655" y="3149981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5992EC-0EEB-625D-258D-F7415A5EF8EE}"/>
              </a:ext>
            </a:extLst>
          </p:cNvPr>
          <p:cNvSpPr/>
          <p:nvPr/>
        </p:nvSpPr>
        <p:spPr>
          <a:xfrm>
            <a:off x="776188" y="3149980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B28C3B-A7F2-7530-E30C-7FA618F0F322}"/>
              </a:ext>
            </a:extLst>
          </p:cNvPr>
          <p:cNvSpPr/>
          <p:nvPr/>
        </p:nvSpPr>
        <p:spPr>
          <a:xfrm>
            <a:off x="1709202" y="3158740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1739A4-A7B8-46F6-868F-AD274E426CA5}"/>
              </a:ext>
            </a:extLst>
          </p:cNvPr>
          <p:cNvSpPr/>
          <p:nvPr/>
        </p:nvSpPr>
        <p:spPr>
          <a:xfrm>
            <a:off x="1765551" y="153864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856C808-5184-E038-FDA1-8F7759629668}"/>
              </a:ext>
            </a:extLst>
          </p:cNvPr>
          <p:cNvSpPr/>
          <p:nvPr/>
        </p:nvSpPr>
        <p:spPr>
          <a:xfrm>
            <a:off x="1255095" y="3149979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EAD8FAB-F48A-DC0F-7236-357AAF6AB469}"/>
              </a:ext>
            </a:extLst>
          </p:cNvPr>
          <p:cNvSpPr/>
          <p:nvPr/>
        </p:nvSpPr>
        <p:spPr>
          <a:xfrm>
            <a:off x="4737690" y="2380041"/>
            <a:ext cx="404037" cy="44125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A10165-865F-EF96-DF39-344B68F69829}"/>
              </a:ext>
            </a:extLst>
          </p:cNvPr>
          <p:cNvSpPr/>
          <p:nvPr/>
        </p:nvSpPr>
        <p:spPr>
          <a:xfrm>
            <a:off x="4042145" y="1235589"/>
            <a:ext cx="175447" cy="9890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363E9E-0A47-E125-2794-8143FF86A370}"/>
              </a:ext>
            </a:extLst>
          </p:cNvPr>
          <p:cNvSpPr/>
          <p:nvPr/>
        </p:nvSpPr>
        <p:spPr>
          <a:xfrm>
            <a:off x="144858" y="1204991"/>
            <a:ext cx="175447" cy="101966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8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5" grpId="0" animBg="1"/>
      <p:bldP spid="15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5BF75-B6EF-E69E-82F2-9187E76F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Video 14" descr="Math And Science Formulas">
            <a:extLst>
              <a:ext uri="{FF2B5EF4-FFF2-40B4-BE49-F238E27FC236}">
                <a16:creationId xmlns:a16="http://schemas.microsoft.com/office/drawing/2014/main" id="{FD3D32C8-A686-8330-C709-1708E2BE5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4" r="19192" b="-1"/>
          <a:stretch>
            <a:fillRect/>
          </a:stretch>
        </p:blipFill>
        <p:spPr>
          <a:xfrm>
            <a:off x="-2286" y="10"/>
            <a:ext cx="9143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7845A-240F-30AB-F154-E7720DA3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844" y="1353364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13800" dirty="0">
                <a:solidFill>
                  <a:srgbClr val="EE0000"/>
                </a:solidFill>
              </a:rPr>
              <a:t>Practical Examples</a:t>
            </a:r>
          </a:p>
        </p:txBody>
      </p:sp>
    </p:spTree>
    <p:extLst>
      <p:ext uri="{BB962C8B-B14F-4D97-AF65-F5344CB8AC3E}">
        <p14:creationId xmlns:p14="http://schemas.microsoft.com/office/powerpoint/2010/main" val="73798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5B45E-C2BA-7DAA-B20E-BA9924B4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3937-9C66-E81E-9109-1BDF453041AF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b="1" dirty="0"/>
              <a:t>Depth-First Search Algorithm</a:t>
            </a:r>
            <a:endParaRPr lang="en-US" dirty="0">
              <a:solidFill>
                <a:srgbClr val="EE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815274-5EF6-2586-2C43-845D8FC98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259106"/>
              </p:ext>
            </p:extLst>
          </p:nvPr>
        </p:nvGraphicFramePr>
        <p:xfrm>
          <a:off x="457200" y="1600199"/>
          <a:ext cx="8311120" cy="459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1112">
                  <a:extLst>
                    <a:ext uri="{9D8B030D-6E8A-4147-A177-3AD203B41FA5}">
                      <a16:colId xmlns:a16="http://schemas.microsoft.com/office/drawing/2014/main" val="1788742999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774879154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2621928213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842646557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714546967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3529148860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820830359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3229021754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505977805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162530257"/>
                    </a:ext>
                  </a:extLst>
                </a:gridCol>
              </a:tblGrid>
              <a:tr h="459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80808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350905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026113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718617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645871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864136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670332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745957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248384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189940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3351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734D69F-2B2B-1D08-8CB6-0F92457A301E}"/>
              </a:ext>
            </a:extLst>
          </p:cNvPr>
          <p:cNvSpPr/>
          <p:nvPr/>
        </p:nvSpPr>
        <p:spPr>
          <a:xfrm>
            <a:off x="1297174" y="1600199"/>
            <a:ext cx="815162" cy="4412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ED96C-459F-DA0C-5C40-21C79834488F}"/>
              </a:ext>
            </a:extLst>
          </p:cNvPr>
          <p:cNvSpPr/>
          <p:nvPr/>
        </p:nvSpPr>
        <p:spPr>
          <a:xfrm>
            <a:off x="1300717" y="2064486"/>
            <a:ext cx="815162" cy="4412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7C753-727E-2094-4E39-D8DF2E40EEE9}"/>
              </a:ext>
            </a:extLst>
          </p:cNvPr>
          <p:cNvSpPr/>
          <p:nvPr/>
        </p:nvSpPr>
        <p:spPr>
          <a:xfrm>
            <a:off x="1304263" y="250042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0C3F4-FDAC-A38A-E19E-398F61D8AB61}"/>
              </a:ext>
            </a:extLst>
          </p:cNvPr>
          <p:cNvSpPr/>
          <p:nvPr/>
        </p:nvSpPr>
        <p:spPr>
          <a:xfrm>
            <a:off x="471379" y="2525233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8D7D3-190F-BE9D-F1B7-CC2D1E34B58B}"/>
              </a:ext>
            </a:extLst>
          </p:cNvPr>
          <p:cNvSpPr/>
          <p:nvPr/>
        </p:nvSpPr>
        <p:spPr>
          <a:xfrm>
            <a:off x="467841" y="295407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E8ECDF-B689-C48C-4D75-3E1B6E5D7BE4}"/>
              </a:ext>
            </a:extLst>
          </p:cNvPr>
          <p:cNvSpPr/>
          <p:nvPr/>
        </p:nvSpPr>
        <p:spPr>
          <a:xfrm>
            <a:off x="464298" y="3425443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B5AEB-F8D0-0005-CAA9-F0E839DF69F5}"/>
              </a:ext>
            </a:extLst>
          </p:cNvPr>
          <p:cNvSpPr/>
          <p:nvPr/>
        </p:nvSpPr>
        <p:spPr>
          <a:xfrm>
            <a:off x="467847" y="3896820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3CFA94-D02F-B291-B2D9-3ECE4B3218BD}"/>
              </a:ext>
            </a:extLst>
          </p:cNvPr>
          <p:cNvSpPr/>
          <p:nvPr/>
        </p:nvSpPr>
        <p:spPr>
          <a:xfrm>
            <a:off x="471392" y="433983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BBCBF-2CA7-989C-1EF0-260473C82A67}"/>
              </a:ext>
            </a:extLst>
          </p:cNvPr>
          <p:cNvSpPr/>
          <p:nvPr/>
        </p:nvSpPr>
        <p:spPr>
          <a:xfrm>
            <a:off x="464304" y="480766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2D0680-87FD-922F-F693-66B8E244CC6E}"/>
              </a:ext>
            </a:extLst>
          </p:cNvPr>
          <p:cNvSpPr/>
          <p:nvPr/>
        </p:nvSpPr>
        <p:spPr>
          <a:xfrm>
            <a:off x="467852" y="5279042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AF568F-D4F2-FCA5-CB9D-940C4E6E7902}"/>
              </a:ext>
            </a:extLst>
          </p:cNvPr>
          <p:cNvSpPr/>
          <p:nvPr/>
        </p:nvSpPr>
        <p:spPr>
          <a:xfrm>
            <a:off x="464309" y="572205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B7551-FBC7-BCDC-95D9-F04DCEAB3AD1}"/>
              </a:ext>
            </a:extLst>
          </p:cNvPr>
          <p:cNvSpPr/>
          <p:nvPr/>
        </p:nvSpPr>
        <p:spPr>
          <a:xfrm>
            <a:off x="1297191" y="574687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9F17EC-F544-1C99-EB24-E5C66BB04ED8}"/>
              </a:ext>
            </a:extLst>
          </p:cNvPr>
          <p:cNvSpPr/>
          <p:nvPr/>
        </p:nvSpPr>
        <p:spPr>
          <a:xfrm>
            <a:off x="2130072" y="574333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8238C0-4CE4-6927-742C-DE79E4D2ADE9}"/>
              </a:ext>
            </a:extLst>
          </p:cNvPr>
          <p:cNvSpPr/>
          <p:nvPr/>
        </p:nvSpPr>
        <p:spPr>
          <a:xfrm>
            <a:off x="1297192" y="526486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1064FC-701C-C89F-BB16-30044DB5B85D}"/>
              </a:ext>
            </a:extLst>
          </p:cNvPr>
          <p:cNvSpPr/>
          <p:nvPr/>
        </p:nvSpPr>
        <p:spPr>
          <a:xfrm>
            <a:off x="1293653" y="436110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774652-99B9-EB1D-9DF2-D129D2237EC7}"/>
              </a:ext>
            </a:extLst>
          </p:cNvPr>
          <p:cNvSpPr/>
          <p:nvPr/>
        </p:nvSpPr>
        <p:spPr>
          <a:xfrm>
            <a:off x="2130070" y="4354014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0E277B-4D13-2533-3299-AA3D667FC52B}"/>
              </a:ext>
            </a:extLst>
          </p:cNvPr>
          <p:cNvSpPr/>
          <p:nvPr/>
        </p:nvSpPr>
        <p:spPr>
          <a:xfrm>
            <a:off x="2955860" y="435047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035FFC-76D6-C9D2-F36F-808B3263CE2A}"/>
              </a:ext>
            </a:extLst>
          </p:cNvPr>
          <p:cNvSpPr/>
          <p:nvPr/>
        </p:nvSpPr>
        <p:spPr>
          <a:xfrm>
            <a:off x="2130072" y="249686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B28668-FDD2-B996-35EF-BC37AE1B3C9E}"/>
              </a:ext>
            </a:extLst>
          </p:cNvPr>
          <p:cNvSpPr/>
          <p:nvPr/>
        </p:nvSpPr>
        <p:spPr>
          <a:xfrm>
            <a:off x="2962947" y="250040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9F713F-A11A-356D-CDAA-B29C5497D43F}"/>
              </a:ext>
            </a:extLst>
          </p:cNvPr>
          <p:cNvSpPr/>
          <p:nvPr/>
        </p:nvSpPr>
        <p:spPr>
          <a:xfrm>
            <a:off x="2959411" y="2978870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4AEA62-A67E-0D49-4F40-9637D3C4FF2E}"/>
              </a:ext>
            </a:extLst>
          </p:cNvPr>
          <p:cNvSpPr/>
          <p:nvPr/>
        </p:nvSpPr>
        <p:spPr>
          <a:xfrm>
            <a:off x="2962956" y="342188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B0352B-AAA2-2CB8-2F2E-F6270A7BDD22}"/>
              </a:ext>
            </a:extLst>
          </p:cNvPr>
          <p:cNvSpPr/>
          <p:nvPr/>
        </p:nvSpPr>
        <p:spPr>
          <a:xfrm>
            <a:off x="3795842" y="3432524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3033E8-AFCA-9348-07C3-ADC70CF30591}"/>
              </a:ext>
            </a:extLst>
          </p:cNvPr>
          <p:cNvSpPr/>
          <p:nvPr/>
        </p:nvSpPr>
        <p:spPr>
          <a:xfrm>
            <a:off x="4628723" y="342898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1D2A52-5F4F-5A29-CE7E-412B56C3114E}"/>
              </a:ext>
            </a:extLst>
          </p:cNvPr>
          <p:cNvSpPr/>
          <p:nvPr/>
        </p:nvSpPr>
        <p:spPr>
          <a:xfrm>
            <a:off x="4625186" y="3886187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9D708C-D98A-2709-8A44-4A4CD342C843}"/>
              </a:ext>
            </a:extLst>
          </p:cNvPr>
          <p:cNvSpPr/>
          <p:nvPr/>
        </p:nvSpPr>
        <p:spPr>
          <a:xfrm>
            <a:off x="4632272" y="4354017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A8220E-DC81-CD87-75D9-FCBEE6CB5F4A}"/>
              </a:ext>
            </a:extLst>
          </p:cNvPr>
          <p:cNvSpPr/>
          <p:nvPr/>
        </p:nvSpPr>
        <p:spPr>
          <a:xfrm>
            <a:off x="5450978" y="4357563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BB21F9-1211-417B-1B97-5F69AEF5AD9C}"/>
              </a:ext>
            </a:extLst>
          </p:cNvPr>
          <p:cNvSpPr/>
          <p:nvPr/>
        </p:nvSpPr>
        <p:spPr>
          <a:xfrm>
            <a:off x="6283859" y="4346930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96876F-EF22-B1DB-29D4-3DBC661504CE}"/>
              </a:ext>
            </a:extLst>
          </p:cNvPr>
          <p:cNvSpPr/>
          <p:nvPr/>
        </p:nvSpPr>
        <p:spPr>
          <a:xfrm>
            <a:off x="7116746" y="4371742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4B27E8-A83E-8105-1933-75C9EB26E57C}"/>
              </a:ext>
            </a:extLst>
          </p:cNvPr>
          <p:cNvSpPr/>
          <p:nvPr/>
        </p:nvSpPr>
        <p:spPr>
          <a:xfrm>
            <a:off x="7946084" y="4371742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74AEDC-6843-C13D-0AF1-82CF3D575580}"/>
              </a:ext>
            </a:extLst>
          </p:cNvPr>
          <p:cNvSpPr/>
          <p:nvPr/>
        </p:nvSpPr>
        <p:spPr>
          <a:xfrm>
            <a:off x="7953170" y="389682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D712E6-B328-7E02-9AAE-8FA606164F97}"/>
              </a:ext>
            </a:extLst>
          </p:cNvPr>
          <p:cNvSpPr/>
          <p:nvPr/>
        </p:nvSpPr>
        <p:spPr>
          <a:xfrm>
            <a:off x="7949632" y="4800587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B8F93-87D5-819F-AC65-3A2C7937F3A7}"/>
              </a:ext>
            </a:extLst>
          </p:cNvPr>
          <p:cNvSpPr/>
          <p:nvPr/>
        </p:nvSpPr>
        <p:spPr>
          <a:xfrm>
            <a:off x="7946092" y="528613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A365B8-3F32-3323-A6A0-26A1BA3897E8}"/>
              </a:ext>
            </a:extLst>
          </p:cNvPr>
          <p:cNvSpPr/>
          <p:nvPr/>
        </p:nvSpPr>
        <p:spPr>
          <a:xfrm>
            <a:off x="7949638" y="572915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A00BBA-B810-B140-7ACA-CBB20A742841}"/>
              </a:ext>
            </a:extLst>
          </p:cNvPr>
          <p:cNvSpPr/>
          <p:nvPr/>
        </p:nvSpPr>
        <p:spPr>
          <a:xfrm>
            <a:off x="7123853" y="574688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1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6252B-3AF2-74B3-9F51-B88D1889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5F9ED4-338F-7D97-1CAF-D12A7DA05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9F17B-D8E7-EA89-697B-FA56E354F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2513402"/>
          </a:xfrm>
        </p:spPr>
        <p:txBody>
          <a:bodyPr anchor="b">
            <a:normAutofit/>
          </a:bodyPr>
          <a:lstStyle/>
          <a:p>
            <a:pPr algn="l"/>
            <a:r>
              <a:rPr lang="en-US" sz="5700" dirty="0"/>
              <a:t>Big Question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D2271-7636-6587-56C5-8F1E08BDB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9" y="3182679"/>
            <a:ext cx="7884414" cy="2927277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dirty="0"/>
              <a:t>Will it always work? </a:t>
            </a:r>
            <a:r>
              <a:rPr lang="en-US" dirty="0">
                <a:sym typeface="Wingdings" panose="05000000000000000000" pitchFamily="2" charset="2"/>
              </a:rPr>
              <a:t> YES, If the solution is finite.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Is it the best solution? Not in all case.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endParaRPr lang="en-US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F6FD6E7-7FD8-8A57-BF6D-8CCA3274F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9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942D7-754A-BD12-69DE-89AE06E9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6E27-2B79-A1FF-810A-C322489D0B6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b="1" dirty="0"/>
              <a:t>Depth-First Search Algorithm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48368C-B19F-F311-01B6-AC79674B9641}"/>
              </a:ext>
            </a:extLst>
          </p:cNvPr>
          <p:cNvSpPr/>
          <p:nvPr/>
        </p:nvSpPr>
        <p:spPr>
          <a:xfrm>
            <a:off x="1070344" y="5117806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1" name="Content Placeholder 50">
            <a:extLst>
              <a:ext uri="{FF2B5EF4-FFF2-40B4-BE49-F238E27FC236}">
                <a16:creationId xmlns:a16="http://schemas.microsoft.com/office/drawing/2014/main" id="{66DC9929-C892-5C63-B18E-A2681A17B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159427"/>
              </p:ext>
            </p:extLst>
          </p:nvPr>
        </p:nvGraphicFramePr>
        <p:xfrm>
          <a:off x="1070344" y="1600200"/>
          <a:ext cx="6783570" cy="4921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595">
                  <a:extLst>
                    <a:ext uri="{9D8B030D-6E8A-4147-A177-3AD203B41FA5}">
                      <a16:colId xmlns:a16="http://schemas.microsoft.com/office/drawing/2014/main" val="3305591240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624268126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3528352309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2477468197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2707277478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4210946196"/>
                    </a:ext>
                  </a:extLst>
                </a:gridCol>
              </a:tblGrid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098471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181631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065447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531330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607967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371039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374457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F35435AD-9AAC-35B0-71F5-6CBFF7992106}"/>
              </a:ext>
            </a:extLst>
          </p:cNvPr>
          <p:cNvSpPr/>
          <p:nvPr/>
        </p:nvSpPr>
        <p:spPr>
          <a:xfrm>
            <a:off x="1059713" y="4405422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8745B8-C5B6-9DF9-7E9F-9625EAD4B3C0}"/>
              </a:ext>
            </a:extLst>
          </p:cNvPr>
          <p:cNvSpPr/>
          <p:nvPr/>
        </p:nvSpPr>
        <p:spPr>
          <a:xfrm>
            <a:off x="1049080" y="370013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06D1A93-A7B1-51B2-CE94-D7AB2B68588B}"/>
              </a:ext>
            </a:extLst>
          </p:cNvPr>
          <p:cNvSpPr/>
          <p:nvPr/>
        </p:nvSpPr>
        <p:spPr>
          <a:xfrm>
            <a:off x="1066802" y="300193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67D007-432C-AFB8-3953-035CF32C31DB}"/>
              </a:ext>
            </a:extLst>
          </p:cNvPr>
          <p:cNvSpPr/>
          <p:nvPr/>
        </p:nvSpPr>
        <p:spPr>
          <a:xfrm>
            <a:off x="1070347" y="2275379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88A850-F4DB-BE11-A742-6BF9986A6CBA}"/>
              </a:ext>
            </a:extLst>
          </p:cNvPr>
          <p:cNvSpPr/>
          <p:nvPr/>
        </p:nvSpPr>
        <p:spPr>
          <a:xfrm>
            <a:off x="2193848" y="2293101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B91C88-3F1D-0951-37C1-BB41593E945A}"/>
              </a:ext>
            </a:extLst>
          </p:cNvPr>
          <p:cNvSpPr/>
          <p:nvPr/>
        </p:nvSpPr>
        <p:spPr>
          <a:xfrm>
            <a:off x="3317348" y="2282470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321E85-037D-6EB4-96D2-ADD9C88D6D14}"/>
              </a:ext>
            </a:extLst>
          </p:cNvPr>
          <p:cNvSpPr/>
          <p:nvPr/>
        </p:nvSpPr>
        <p:spPr>
          <a:xfrm>
            <a:off x="4476297" y="231437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3E5829-7161-BCD0-4248-2D6E303C588B}"/>
              </a:ext>
            </a:extLst>
          </p:cNvPr>
          <p:cNvSpPr/>
          <p:nvPr/>
        </p:nvSpPr>
        <p:spPr>
          <a:xfrm>
            <a:off x="4451490" y="2962952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850AD7-D4BC-5EF9-5CDA-C2752539F9F2}"/>
              </a:ext>
            </a:extLst>
          </p:cNvPr>
          <p:cNvSpPr/>
          <p:nvPr/>
        </p:nvSpPr>
        <p:spPr>
          <a:xfrm>
            <a:off x="2186758" y="5766398"/>
            <a:ext cx="1134140" cy="73010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5876478-9E7D-1445-657A-0FDAF64713FA}"/>
              </a:ext>
            </a:extLst>
          </p:cNvPr>
          <p:cNvSpPr/>
          <p:nvPr/>
        </p:nvSpPr>
        <p:spPr>
          <a:xfrm>
            <a:off x="3317349" y="5791208"/>
            <a:ext cx="1134140" cy="73010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A5D1B1F-3632-BBFC-376B-07CB474EDCB6}"/>
              </a:ext>
            </a:extLst>
          </p:cNvPr>
          <p:cNvSpPr/>
          <p:nvPr/>
        </p:nvSpPr>
        <p:spPr>
          <a:xfrm>
            <a:off x="3342161" y="5121359"/>
            <a:ext cx="1134140" cy="73010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6BC436-3DE7-B8ED-7294-817E803CB84A}"/>
              </a:ext>
            </a:extLst>
          </p:cNvPr>
          <p:cNvSpPr/>
          <p:nvPr/>
        </p:nvSpPr>
        <p:spPr>
          <a:xfrm>
            <a:off x="3331530" y="4394805"/>
            <a:ext cx="1134140" cy="73010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279AC5D-BA44-D2E1-997E-BE3EA4705133}"/>
              </a:ext>
            </a:extLst>
          </p:cNvPr>
          <p:cNvSpPr/>
          <p:nvPr/>
        </p:nvSpPr>
        <p:spPr>
          <a:xfrm>
            <a:off x="4455032" y="4384175"/>
            <a:ext cx="1134140" cy="730102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4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D43FB-8FBF-012F-425F-7BAE5901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B720-5875-27DF-4D8E-C93E52994877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b="1" dirty="0"/>
              <a:t>Breadth-First Search Algorithm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6E2A0-E748-BCB5-6415-00926099900A}"/>
              </a:ext>
            </a:extLst>
          </p:cNvPr>
          <p:cNvSpPr/>
          <p:nvPr/>
        </p:nvSpPr>
        <p:spPr>
          <a:xfrm>
            <a:off x="1070344" y="5117806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1" name="Content Placeholder 50">
            <a:extLst>
              <a:ext uri="{FF2B5EF4-FFF2-40B4-BE49-F238E27FC236}">
                <a16:creationId xmlns:a16="http://schemas.microsoft.com/office/drawing/2014/main" id="{1F845D9D-F45D-B7DF-6D78-449AD4B089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70344" y="1600200"/>
          <a:ext cx="6783570" cy="4921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595">
                  <a:extLst>
                    <a:ext uri="{9D8B030D-6E8A-4147-A177-3AD203B41FA5}">
                      <a16:colId xmlns:a16="http://schemas.microsoft.com/office/drawing/2014/main" val="3305591240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624268126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3528352309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2477468197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2707277478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4210946196"/>
                    </a:ext>
                  </a:extLst>
                </a:gridCol>
              </a:tblGrid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098471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181631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065447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531330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607967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371039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374457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51A8E22D-E417-B950-5194-D09788B36A55}"/>
              </a:ext>
            </a:extLst>
          </p:cNvPr>
          <p:cNvSpPr/>
          <p:nvPr/>
        </p:nvSpPr>
        <p:spPr>
          <a:xfrm>
            <a:off x="2208026" y="5801834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0F385A-021E-1C81-112F-948D8190E12E}"/>
              </a:ext>
            </a:extLst>
          </p:cNvPr>
          <p:cNvSpPr/>
          <p:nvPr/>
        </p:nvSpPr>
        <p:spPr>
          <a:xfrm>
            <a:off x="1073886" y="441606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84D398-3483-0C01-7A57-5FA5B7341D6F}"/>
              </a:ext>
            </a:extLst>
          </p:cNvPr>
          <p:cNvSpPr/>
          <p:nvPr/>
        </p:nvSpPr>
        <p:spPr>
          <a:xfrm>
            <a:off x="3342166" y="5823106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5421EC-D23B-1B78-3B0F-8E3D347AF020}"/>
              </a:ext>
            </a:extLst>
          </p:cNvPr>
          <p:cNvSpPr/>
          <p:nvPr/>
        </p:nvSpPr>
        <p:spPr>
          <a:xfrm>
            <a:off x="1073886" y="3685961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347C471-312F-9B90-B05E-657667E8A026}"/>
              </a:ext>
            </a:extLst>
          </p:cNvPr>
          <p:cNvSpPr/>
          <p:nvPr/>
        </p:nvSpPr>
        <p:spPr>
          <a:xfrm>
            <a:off x="3342166" y="5103635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4910DC-01A0-B19A-09F5-E2B5E98DD000}"/>
              </a:ext>
            </a:extLst>
          </p:cNvPr>
          <p:cNvSpPr/>
          <p:nvPr/>
        </p:nvSpPr>
        <p:spPr>
          <a:xfrm>
            <a:off x="1073886" y="2955859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547EE4F-415C-02C5-BBF0-F7297CEBC642}"/>
              </a:ext>
            </a:extLst>
          </p:cNvPr>
          <p:cNvSpPr/>
          <p:nvPr/>
        </p:nvSpPr>
        <p:spPr>
          <a:xfrm>
            <a:off x="3317350" y="441606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92A33A3-9773-8D33-42D5-2A3E486429A2}"/>
              </a:ext>
            </a:extLst>
          </p:cNvPr>
          <p:cNvSpPr/>
          <p:nvPr/>
        </p:nvSpPr>
        <p:spPr>
          <a:xfrm>
            <a:off x="1070344" y="2262974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710AB9-6BB8-9A58-CBD3-0FA787F8DB6C}"/>
              </a:ext>
            </a:extLst>
          </p:cNvPr>
          <p:cNvSpPr/>
          <p:nvPr/>
        </p:nvSpPr>
        <p:spPr>
          <a:xfrm>
            <a:off x="2204484" y="2310821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F55CE-855C-1B83-103B-1458531C4A27}"/>
              </a:ext>
            </a:extLst>
          </p:cNvPr>
          <p:cNvSpPr/>
          <p:nvPr/>
        </p:nvSpPr>
        <p:spPr>
          <a:xfrm>
            <a:off x="4463900" y="441606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7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DC977-58B6-7ED5-6B4C-8C3D5CB9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4A6D-726E-82AF-7F1F-35F2FD0C8A0A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b="1" dirty="0"/>
              <a:t>Breadth-First Search Algorithm</a:t>
            </a:r>
            <a:endParaRPr lang="en-US" dirty="0">
              <a:solidFill>
                <a:srgbClr val="EE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3AD744-E06F-1A17-914D-E90F8641B5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199"/>
          <a:ext cx="8311120" cy="459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1112">
                  <a:extLst>
                    <a:ext uri="{9D8B030D-6E8A-4147-A177-3AD203B41FA5}">
                      <a16:colId xmlns:a16="http://schemas.microsoft.com/office/drawing/2014/main" val="1788742999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774879154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2621928213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842646557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714546967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3529148860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820830359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3229021754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505977805"/>
                    </a:ext>
                  </a:extLst>
                </a:gridCol>
                <a:gridCol w="831112">
                  <a:extLst>
                    <a:ext uri="{9D8B030D-6E8A-4147-A177-3AD203B41FA5}">
                      <a16:colId xmlns:a16="http://schemas.microsoft.com/office/drawing/2014/main" val="1162530257"/>
                    </a:ext>
                  </a:extLst>
                </a:gridCol>
              </a:tblGrid>
              <a:tr h="459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80808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350905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026113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718617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645871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864136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670332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745957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248384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189940"/>
                  </a:ext>
                </a:extLst>
              </a:tr>
              <a:tr h="4595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3351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A7F7C21-F9EE-D06F-2AF4-D5522AB3C194}"/>
              </a:ext>
            </a:extLst>
          </p:cNvPr>
          <p:cNvSpPr/>
          <p:nvPr/>
        </p:nvSpPr>
        <p:spPr>
          <a:xfrm>
            <a:off x="1297174" y="1607287"/>
            <a:ext cx="815162" cy="4412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7A052-806D-FF78-07AE-C6102341CC65}"/>
              </a:ext>
            </a:extLst>
          </p:cNvPr>
          <p:cNvSpPr/>
          <p:nvPr/>
        </p:nvSpPr>
        <p:spPr>
          <a:xfrm>
            <a:off x="1293629" y="2064486"/>
            <a:ext cx="815162" cy="4412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A39BB-F015-5042-BDFA-F0351FE0309F}"/>
              </a:ext>
            </a:extLst>
          </p:cNvPr>
          <p:cNvSpPr/>
          <p:nvPr/>
        </p:nvSpPr>
        <p:spPr>
          <a:xfrm>
            <a:off x="1304263" y="250042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50929E-654D-10CD-D873-56D70DC44546}"/>
              </a:ext>
            </a:extLst>
          </p:cNvPr>
          <p:cNvSpPr/>
          <p:nvPr/>
        </p:nvSpPr>
        <p:spPr>
          <a:xfrm>
            <a:off x="471376" y="250573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73D72-E128-2508-1F80-B35230F8FDC7}"/>
              </a:ext>
            </a:extLst>
          </p:cNvPr>
          <p:cNvSpPr/>
          <p:nvPr/>
        </p:nvSpPr>
        <p:spPr>
          <a:xfrm>
            <a:off x="2137143" y="2528773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5C25B1-9A32-5740-A3BC-567044631E1C}"/>
              </a:ext>
            </a:extLst>
          </p:cNvPr>
          <p:cNvSpPr/>
          <p:nvPr/>
        </p:nvSpPr>
        <p:spPr>
          <a:xfrm>
            <a:off x="467835" y="299128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AEA785-B080-2FF0-22BA-DA7ABCBAA3EF}"/>
              </a:ext>
            </a:extLst>
          </p:cNvPr>
          <p:cNvSpPr/>
          <p:nvPr/>
        </p:nvSpPr>
        <p:spPr>
          <a:xfrm>
            <a:off x="2962942" y="2528773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7023A0-79AC-800A-822E-1CF9E2CB1F4B}"/>
              </a:ext>
            </a:extLst>
          </p:cNvPr>
          <p:cNvSpPr/>
          <p:nvPr/>
        </p:nvSpPr>
        <p:spPr>
          <a:xfrm>
            <a:off x="467835" y="343608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C47950-DB3A-06CC-49C8-DBA90AF41B56}"/>
              </a:ext>
            </a:extLst>
          </p:cNvPr>
          <p:cNvSpPr/>
          <p:nvPr/>
        </p:nvSpPr>
        <p:spPr>
          <a:xfrm>
            <a:off x="2962933" y="206448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80E321-D8ED-0301-C2B1-863977DC9AE5}"/>
              </a:ext>
            </a:extLst>
          </p:cNvPr>
          <p:cNvSpPr/>
          <p:nvPr/>
        </p:nvSpPr>
        <p:spPr>
          <a:xfrm>
            <a:off x="2962942" y="2959397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CDC089-4B2E-5C54-4C6B-8E72F468F03A}"/>
              </a:ext>
            </a:extLst>
          </p:cNvPr>
          <p:cNvSpPr/>
          <p:nvPr/>
        </p:nvSpPr>
        <p:spPr>
          <a:xfrm>
            <a:off x="474926" y="3911892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994853-0290-F9E7-6B1A-A6D7D7A50FB3}"/>
              </a:ext>
            </a:extLst>
          </p:cNvPr>
          <p:cNvSpPr/>
          <p:nvPr/>
        </p:nvSpPr>
        <p:spPr>
          <a:xfrm>
            <a:off x="2962942" y="1586010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4338A5-D485-C179-C080-31C53F264D5C}"/>
              </a:ext>
            </a:extLst>
          </p:cNvPr>
          <p:cNvSpPr/>
          <p:nvPr/>
        </p:nvSpPr>
        <p:spPr>
          <a:xfrm>
            <a:off x="2962941" y="344228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8658F6-08CA-DD09-7DDB-2BEC7113CDD6}"/>
              </a:ext>
            </a:extLst>
          </p:cNvPr>
          <p:cNvSpPr/>
          <p:nvPr/>
        </p:nvSpPr>
        <p:spPr>
          <a:xfrm>
            <a:off x="464292" y="436110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904AD57-606F-B95E-70E0-6FB462DE1F78}"/>
              </a:ext>
            </a:extLst>
          </p:cNvPr>
          <p:cNvSpPr/>
          <p:nvPr/>
        </p:nvSpPr>
        <p:spPr>
          <a:xfrm>
            <a:off x="3792275" y="160019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35B80AE-3448-DC4F-2580-7D5361B2A028}"/>
              </a:ext>
            </a:extLst>
          </p:cNvPr>
          <p:cNvSpPr/>
          <p:nvPr/>
        </p:nvSpPr>
        <p:spPr>
          <a:xfrm>
            <a:off x="2126508" y="343564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BAF127-DC6E-5880-96FB-EF7B7A8A7898}"/>
              </a:ext>
            </a:extLst>
          </p:cNvPr>
          <p:cNvSpPr/>
          <p:nvPr/>
        </p:nvSpPr>
        <p:spPr>
          <a:xfrm>
            <a:off x="3792275" y="344228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65656F-B5C6-FBB3-F780-1FE2532FD6F1}"/>
              </a:ext>
            </a:extLst>
          </p:cNvPr>
          <p:cNvSpPr/>
          <p:nvPr/>
        </p:nvSpPr>
        <p:spPr>
          <a:xfrm>
            <a:off x="471376" y="480857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2CF96-0D70-4800-08D8-2F3F4C0097C1}"/>
              </a:ext>
            </a:extLst>
          </p:cNvPr>
          <p:cNvSpPr/>
          <p:nvPr/>
        </p:nvSpPr>
        <p:spPr>
          <a:xfrm>
            <a:off x="1297171" y="4355805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F82108-C0C6-1A16-9A02-DAE600783C98}"/>
              </a:ext>
            </a:extLst>
          </p:cNvPr>
          <p:cNvSpPr/>
          <p:nvPr/>
        </p:nvSpPr>
        <p:spPr>
          <a:xfrm>
            <a:off x="4618078" y="160019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150069-EE5F-76DA-7290-8A2EC6EBC7EA}"/>
              </a:ext>
            </a:extLst>
          </p:cNvPr>
          <p:cNvSpPr/>
          <p:nvPr/>
        </p:nvSpPr>
        <p:spPr>
          <a:xfrm>
            <a:off x="4625160" y="3453803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D673BD-ED38-DA03-43BA-B8DCEA763DEB}"/>
              </a:ext>
            </a:extLst>
          </p:cNvPr>
          <p:cNvSpPr/>
          <p:nvPr/>
        </p:nvSpPr>
        <p:spPr>
          <a:xfrm>
            <a:off x="471376" y="5287034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867660-F5BD-C2AC-6614-C8E7BD9D0664}"/>
              </a:ext>
            </a:extLst>
          </p:cNvPr>
          <p:cNvSpPr/>
          <p:nvPr/>
        </p:nvSpPr>
        <p:spPr>
          <a:xfrm>
            <a:off x="2130050" y="434583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8B0F953-2157-FA32-AF35-D0E843C481D8}"/>
              </a:ext>
            </a:extLst>
          </p:cNvPr>
          <p:cNvSpPr/>
          <p:nvPr/>
        </p:nvSpPr>
        <p:spPr>
          <a:xfrm>
            <a:off x="4625160" y="206448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684997-F757-892B-ED3A-994113CB15A1}"/>
              </a:ext>
            </a:extLst>
          </p:cNvPr>
          <p:cNvSpPr/>
          <p:nvPr/>
        </p:nvSpPr>
        <p:spPr>
          <a:xfrm>
            <a:off x="4625160" y="392340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2BAB4C-8ACC-0326-0058-0051EA535A99}"/>
              </a:ext>
            </a:extLst>
          </p:cNvPr>
          <p:cNvSpPr/>
          <p:nvPr/>
        </p:nvSpPr>
        <p:spPr>
          <a:xfrm>
            <a:off x="464292" y="573006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9A4AD83-BE6D-2778-4B36-DDB5ED4E5D61}"/>
              </a:ext>
            </a:extLst>
          </p:cNvPr>
          <p:cNvSpPr/>
          <p:nvPr/>
        </p:nvSpPr>
        <p:spPr>
          <a:xfrm>
            <a:off x="1293630" y="5275522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39B38F6-80DD-3B56-1211-97909E97F233}"/>
              </a:ext>
            </a:extLst>
          </p:cNvPr>
          <p:cNvSpPr/>
          <p:nvPr/>
        </p:nvSpPr>
        <p:spPr>
          <a:xfrm>
            <a:off x="2959385" y="434583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AF36BF0-9166-FDE8-758E-46B08AF21E91}"/>
              </a:ext>
            </a:extLst>
          </p:cNvPr>
          <p:cNvSpPr/>
          <p:nvPr/>
        </p:nvSpPr>
        <p:spPr>
          <a:xfrm>
            <a:off x="4618078" y="251992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5E6F352-5CAA-94F8-D315-012D44A387D1}"/>
              </a:ext>
            </a:extLst>
          </p:cNvPr>
          <p:cNvSpPr/>
          <p:nvPr/>
        </p:nvSpPr>
        <p:spPr>
          <a:xfrm>
            <a:off x="4639334" y="4368197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E1D1C3B-45EA-E468-0315-3899531799F2}"/>
              </a:ext>
            </a:extLst>
          </p:cNvPr>
          <p:cNvSpPr/>
          <p:nvPr/>
        </p:nvSpPr>
        <p:spPr>
          <a:xfrm>
            <a:off x="1297171" y="573006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BAA529-5BAF-03AE-1A4C-A4D9DDE6B6F3}"/>
              </a:ext>
            </a:extLst>
          </p:cNvPr>
          <p:cNvSpPr/>
          <p:nvPr/>
        </p:nvSpPr>
        <p:spPr>
          <a:xfrm>
            <a:off x="5450952" y="251105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9BA7395-ECBA-BAD5-ACEB-CB27DB949F1E}"/>
              </a:ext>
            </a:extLst>
          </p:cNvPr>
          <p:cNvSpPr/>
          <p:nvPr/>
        </p:nvSpPr>
        <p:spPr>
          <a:xfrm>
            <a:off x="5461581" y="436731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04F3CF9-12D5-D9CE-D908-1CFBB392937C}"/>
              </a:ext>
            </a:extLst>
          </p:cNvPr>
          <p:cNvSpPr/>
          <p:nvPr/>
        </p:nvSpPr>
        <p:spPr>
          <a:xfrm>
            <a:off x="2130050" y="5756637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8B71638-B498-AA52-C56E-26911FC50903}"/>
              </a:ext>
            </a:extLst>
          </p:cNvPr>
          <p:cNvSpPr/>
          <p:nvPr/>
        </p:nvSpPr>
        <p:spPr>
          <a:xfrm>
            <a:off x="6283839" y="253232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55DE0E-7062-FBAE-C366-4944441779C0}"/>
              </a:ext>
            </a:extLst>
          </p:cNvPr>
          <p:cNvSpPr/>
          <p:nvPr/>
        </p:nvSpPr>
        <p:spPr>
          <a:xfrm>
            <a:off x="6287372" y="4356692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7302768-5397-0632-366C-67FB75E6BA35}"/>
              </a:ext>
            </a:extLst>
          </p:cNvPr>
          <p:cNvSpPr/>
          <p:nvPr/>
        </p:nvSpPr>
        <p:spPr>
          <a:xfrm>
            <a:off x="6290927" y="298907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5567404-3E36-2769-9D63-AE7F1E937528}"/>
              </a:ext>
            </a:extLst>
          </p:cNvPr>
          <p:cNvSpPr/>
          <p:nvPr/>
        </p:nvSpPr>
        <p:spPr>
          <a:xfrm>
            <a:off x="6280283" y="2050310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EACD7AB-98B1-65FE-9C5F-A767FB9D6BED}"/>
              </a:ext>
            </a:extLst>
          </p:cNvPr>
          <p:cNvSpPr/>
          <p:nvPr/>
        </p:nvSpPr>
        <p:spPr>
          <a:xfrm>
            <a:off x="7120251" y="436731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F1A26C-B1D3-8BDF-6198-D8C9BEB8B03B}"/>
              </a:ext>
            </a:extLst>
          </p:cNvPr>
          <p:cNvSpPr/>
          <p:nvPr/>
        </p:nvSpPr>
        <p:spPr>
          <a:xfrm>
            <a:off x="6283830" y="3453369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3F025A8-E27F-8DCB-22B0-F4857646117F}"/>
              </a:ext>
            </a:extLst>
          </p:cNvPr>
          <p:cNvSpPr/>
          <p:nvPr/>
        </p:nvSpPr>
        <p:spPr>
          <a:xfrm>
            <a:off x="6283826" y="1583362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47D0E7E-3CB7-661B-0FB8-5471B2E1C2C8}"/>
              </a:ext>
            </a:extLst>
          </p:cNvPr>
          <p:cNvSpPr/>
          <p:nvPr/>
        </p:nvSpPr>
        <p:spPr>
          <a:xfrm>
            <a:off x="7942525" y="4355804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657A092-D75D-0549-EBAA-70290FCA93F6}"/>
              </a:ext>
            </a:extLst>
          </p:cNvPr>
          <p:cNvSpPr/>
          <p:nvPr/>
        </p:nvSpPr>
        <p:spPr>
          <a:xfrm>
            <a:off x="7113163" y="342811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5DD9F38-02AD-AD96-EAFF-37E0839E843E}"/>
              </a:ext>
            </a:extLst>
          </p:cNvPr>
          <p:cNvSpPr/>
          <p:nvPr/>
        </p:nvSpPr>
        <p:spPr>
          <a:xfrm>
            <a:off x="7120255" y="1590448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4A835C-D402-250E-34BA-1E2A54A87651}"/>
              </a:ext>
            </a:extLst>
          </p:cNvPr>
          <p:cNvSpPr/>
          <p:nvPr/>
        </p:nvSpPr>
        <p:spPr>
          <a:xfrm>
            <a:off x="7942524" y="4828070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E0CA145-F0F2-1A48-031C-62270EBCBD78}"/>
              </a:ext>
            </a:extLst>
          </p:cNvPr>
          <p:cNvSpPr/>
          <p:nvPr/>
        </p:nvSpPr>
        <p:spPr>
          <a:xfrm>
            <a:off x="7953155" y="389150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07D573-121E-A1C0-4779-CFF465F66F77}"/>
              </a:ext>
            </a:extLst>
          </p:cNvPr>
          <p:cNvSpPr/>
          <p:nvPr/>
        </p:nvSpPr>
        <p:spPr>
          <a:xfrm>
            <a:off x="7953154" y="1580707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1B73B59-2D3E-F274-910F-0A1A928766AE}"/>
              </a:ext>
            </a:extLst>
          </p:cNvPr>
          <p:cNvSpPr/>
          <p:nvPr/>
        </p:nvSpPr>
        <p:spPr>
          <a:xfrm>
            <a:off x="7953153" y="5252520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69900AF-BD2F-D9CD-7AF7-ADCCEA02EA80}"/>
              </a:ext>
            </a:extLst>
          </p:cNvPr>
          <p:cNvSpPr/>
          <p:nvPr/>
        </p:nvSpPr>
        <p:spPr>
          <a:xfrm>
            <a:off x="7953132" y="2076891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612A46F-9B94-80E3-A8D4-E97EC416CDC8}"/>
              </a:ext>
            </a:extLst>
          </p:cNvPr>
          <p:cNvSpPr/>
          <p:nvPr/>
        </p:nvSpPr>
        <p:spPr>
          <a:xfrm>
            <a:off x="7953155" y="5741136"/>
            <a:ext cx="808073" cy="46960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1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" grpId="0" animBg="1"/>
      <p:bldP spid="8" grpId="0" animBg="1"/>
      <p:bldP spid="10" grpId="0" animBg="1"/>
      <p:bldP spid="15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2A74E00-93A3-A439-8F6B-5CE93989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C2583-53D1-F646-3466-FA4B0459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6" y="225060"/>
            <a:ext cx="8229600" cy="5050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b="1" dirty="0"/>
              <a:t>Need for a More Intelligent Search Algorithm </a:t>
            </a:r>
            <a:endParaRPr lang="en-US" sz="3200" dirty="0">
              <a:solidFill>
                <a:srgbClr val="EE0000"/>
              </a:solidFill>
            </a:endParaRPr>
          </a:p>
        </p:txBody>
      </p:sp>
      <p:graphicFrame>
        <p:nvGraphicFramePr>
          <p:cNvPr id="51" name="Content Placeholder 50">
            <a:extLst>
              <a:ext uri="{FF2B5EF4-FFF2-40B4-BE49-F238E27FC236}">
                <a16:creationId xmlns:a16="http://schemas.microsoft.com/office/drawing/2014/main" id="{D09454A2-49BD-E000-4533-9A146C2A6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940843"/>
              </p:ext>
            </p:extLst>
          </p:nvPr>
        </p:nvGraphicFramePr>
        <p:xfrm>
          <a:off x="1063256" y="1607288"/>
          <a:ext cx="6783570" cy="4921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0595">
                  <a:extLst>
                    <a:ext uri="{9D8B030D-6E8A-4147-A177-3AD203B41FA5}">
                      <a16:colId xmlns:a16="http://schemas.microsoft.com/office/drawing/2014/main" val="3305591240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624268126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3528352309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2477468197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2707277478"/>
                    </a:ext>
                  </a:extLst>
                </a:gridCol>
                <a:gridCol w="1130595">
                  <a:extLst>
                    <a:ext uri="{9D8B030D-6E8A-4147-A177-3AD203B41FA5}">
                      <a16:colId xmlns:a16="http://schemas.microsoft.com/office/drawing/2014/main" val="4210946196"/>
                    </a:ext>
                  </a:extLst>
                </a:gridCol>
              </a:tblGrid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098471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181631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065447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531330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607967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371039"/>
                  </a:ext>
                </a:extLst>
              </a:tr>
              <a:tr h="7030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374457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601AE7EC-0B8C-2189-FAAA-3CCE8522DC73}"/>
              </a:ext>
            </a:extLst>
          </p:cNvPr>
          <p:cNvSpPr/>
          <p:nvPr/>
        </p:nvSpPr>
        <p:spPr>
          <a:xfrm>
            <a:off x="2208026" y="5801834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76F746D-88C7-262E-3909-1F179B76D73D}"/>
              </a:ext>
            </a:extLst>
          </p:cNvPr>
          <p:cNvSpPr/>
          <p:nvPr/>
        </p:nvSpPr>
        <p:spPr>
          <a:xfrm>
            <a:off x="3342166" y="5823106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157075-1192-A951-802E-F50665997CD6}"/>
              </a:ext>
            </a:extLst>
          </p:cNvPr>
          <p:cNvSpPr/>
          <p:nvPr/>
        </p:nvSpPr>
        <p:spPr>
          <a:xfrm>
            <a:off x="3342166" y="5103635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CD11D37-5F4E-37F2-9794-EF5B7E3E56FF}"/>
              </a:ext>
            </a:extLst>
          </p:cNvPr>
          <p:cNvSpPr/>
          <p:nvPr/>
        </p:nvSpPr>
        <p:spPr>
          <a:xfrm>
            <a:off x="3317350" y="441606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8FB764-3EB9-CA9E-078A-FB8591D77C0E}"/>
              </a:ext>
            </a:extLst>
          </p:cNvPr>
          <p:cNvSpPr/>
          <p:nvPr/>
        </p:nvSpPr>
        <p:spPr>
          <a:xfrm>
            <a:off x="4463900" y="4416063"/>
            <a:ext cx="1134140" cy="73010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E3B83-3AAC-A588-B7A4-6CAACEDE46D5}"/>
              </a:ext>
            </a:extLst>
          </p:cNvPr>
          <p:cNvSpPr txBox="1"/>
          <p:nvPr/>
        </p:nvSpPr>
        <p:spPr>
          <a:xfrm>
            <a:off x="606056" y="718367"/>
            <a:ext cx="514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How do humans solve this?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865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 animBg="1"/>
      <p:bldP spid="56" grpId="0" animBg="1"/>
      <p:bldP spid="58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4BEEB-1127-C49A-C3DB-D60498C7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45DFE-8D41-E6FC-B24E-8F2D828C9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/>
              <a:t>Types of Search Algorithms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6AA2BF-2A8D-4FC8-7003-8007ABF75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47812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544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5D44B-7D72-52FC-5557-CBAF2D66A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68B167-4AF4-46D3-25A4-9D3F69C3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9" y="358227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rgbClr val="000000"/>
                </a:solidFill>
              </a:rPr>
              <a:t>Uninformed Search Algorithms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A8AD6B84-8CB7-D761-92EE-DA19F0292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F6DD7-5022-4A22-357B-B6BD32802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84" y="2431312"/>
            <a:ext cx="4614530" cy="423175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This is a search strategy that uses no problem-specific knowledge.</a:t>
            </a:r>
          </a:p>
          <a:p>
            <a:r>
              <a:rPr lang="en-US" dirty="0"/>
              <a:t>An uninformed search algorithm is given no clue about how close a state is to the goal(s).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665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6CA0-C2D6-0BEC-D052-992966E0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7CC1-1CB1-28BB-9445-0DD0624C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479494"/>
            <a:ext cx="6707815" cy="105868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Other Uninformed Search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9471A-A9A8-66B4-9684-A5D5A144A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984443"/>
            <a:ext cx="7650569" cy="35019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/>
              <a:t>Depth-limited Algorithms</a:t>
            </a:r>
          </a:p>
          <a:p>
            <a:pPr>
              <a:lnSpc>
                <a:spcPct val="90000"/>
              </a:lnSpc>
            </a:pPr>
            <a:r>
              <a:rPr lang="en-US" sz="2700" dirty="0"/>
              <a:t>Iterative Deepening Search Algorithms</a:t>
            </a:r>
          </a:p>
          <a:p>
            <a:pPr>
              <a:lnSpc>
                <a:spcPct val="90000"/>
              </a:lnSpc>
            </a:pPr>
            <a:r>
              <a:rPr lang="en-US" sz="2700" dirty="0"/>
              <a:t>Uniform-cost Search (Dijkstra) Algorithms</a:t>
            </a:r>
          </a:p>
          <a:p>
            <a:pPr>
              <a:lnSpc>
                <a:spcPct val="90000"/>
              </a:lnSpc>
            </a:pPr>
            <a:r>
              <a:rPr lang="en-US" sz="2700" dirty="0"/>
              <a:t>Bidirectional search</a:t>
            </a:r>
          </a:p>
          <a:p>
            <a:pPr marL="0" indent="0">
              <a:lnSpc>
                <a:spcPct val="90000"/>
              </a:lnSpc>
              <a:buNone/>
            </a:pP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4214420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3A07B-97D3-9747-EE1B-4D6E0E41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985206-D175-CD2A-ED97-5004BD95D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40ADA4-9565-D714-C8A1-D977AB039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7136F9-6EAA-AE98-9636-55D970E6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239" y="358228"/>
            <a:ext cx="5003609" cy="12029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rgbClr val="000000"/>
                </a:solidFill>
              </a:rPr>
              <a:t>Informed Search Algorithms (Heuristic)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4640B5E7-570F-059F-93F5-95D9CC24F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0BD86A0D-B7E7-670C-454C-3FA2419B89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E6F8-80D6-EA81-721B-09B07873B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84" y="2431312"/>
            <a:ext cx="4614530" cy="423175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This is a search strategy that uses problem-specific knowledge to find solutions more efficiently.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488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C854B-A82A-39C5-AB4A-6ED54A021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0402F5-C194-5FAF-2BB4-02CF45D67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BE9006-E0CC-0215-25A0-25DE152C7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E931E3-9E31-DCD3-89CA-9F8CFFAD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35" y="358228"/>
            <a:ext cx="8248614" cy="12029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rgbClr val="000000"/>
                </a:solidFill>
              </a:rPr>
              <a:t>Informed Search Algorithms (Heuristic)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14441938-3D77-0EB9-7955-71FC0E256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41A41-FCCB-06C6-0069-63A58B91F6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234" y="1906859"/>
                <a:ext cx="8640380" cy="3334214"/>
              </a:xfrm>
            </p:spPr>
            <p:txBody>
              <a:bodyPr anchor="ctr">
                <a:normAutofit fontScale="92500" lnSpcReduction="10000"/>
              </a:bodyPr>
              <a:lstStyle/>
              <a:p>
                <a:r>
                  <a:rPr lang="en-US" dirty="0"/>
                  <a:t>An uninformed search algorithm is one that uses domain-specific hints about the location of goals.</a:t>
                </a:r>
              </a:p>
              <a:p>
                <a:r>
                  <a:rPr lang="en-US" dirty="0"/>
                  <a:t>The hints come in the form of a heuristic function, denoted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900"/>
                        <m:t>estimated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cost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of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the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cheapest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path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from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the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state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at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node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n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to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a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goal</m:t>
                      </m:r>
                      <m:r>
                        <m:rPr>
                          <m:nor/>
                        </m:rPr>
                        <a:rPr lang="en-US" sz="1900"/>
                        <m:t> </m:t>
                      </m:r>
                      <m:r>
                        <m:rPr>
                          <m:nor/>
                        </m:rPr>
                        <a:rPr lang="en-US" sz="1900"/>
                        <m:t>state</m:t>
                      </m:r>
                      <m:r>
                        <m:rPr>
                          <m:nor/>
                        </m:rPr>
                        <a:rPr lang="en-US" sz="1900"/>
                        <m:t>.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41A41-FCCB-06C6-0069-63A58B91F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234" y="1906859"/>
                <a:ext cx="8640380" cy="3334214"/>
              </a:xfrm>
              <a:blipFill>
                <a:blip r:embed="rId3"/>
                <a:stretch>
                  <a:fillRect l="-1622" t="-7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29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1392-0EC0-62D8-01F6-79AC50614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57DCFA6-384F-694D-5B7F-377A1464C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015597"/>
              </p:ext>
            </p:extLst>
          </p:nvPr>
        </p:nvGraphicFramePr>
        <p:xfrm>
          <a:off x="256478" y="1223377"/>
          <a:ext cx="8586444" cy="52889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537">
                  <a:extLst>
                    <a:ext uri="{9D8B030D-6E8A-4147-A177-3AD203B41FA5}">
                      <a16:colId xmlns:a16="http://schemas.microsoft.com/office/drawing/2014/main" val="2620811181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793131759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758455826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4116021645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2311061600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1449369861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2846586615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1947661352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755874542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561588442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42628717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1209820815"/>
                    </a:ext>
                  </a:extLst>
                </a:gridCol>
              </a:tblGrid>
              <a:tr h="755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5670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67609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108250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188630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287687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29913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46985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BE50AFC-3F21-E9EA-EEF1-E407E7C4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6" y="225060"/>
            <a:ext cx="8229600" cy="5050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b="1" dirty="0">
                <a:solidFill>
                  <a:srgbClr val="000000"/>
                </a:solidFill>
              </a:rPr>
              <a:t>Heuristic Function</a:t>
            </a:r>
            <a:endParaRPr lang="en-US" sz="3200" dirty="0">
              <a:solidFill>
                <a:srgbClr val="EE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F0FD31-C6A6-1B26-832F-F62A354272C3}"/>
              </a:ext>
            </a:extLst>
          </p:cNvPr>
          <p:cNvSpPr/>
          <p:nvPr/>
        </p:nvSpPr>
        <p:spPr>
          <a:xfrm>
            <a:off x="958227" y="4204009"/>
            <a:ext cx="736759" cy="84749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CE2E-F5D6-7B05-69DD-56CD85862DB8}"/>
              </a:ext>
            </a:extLst>
          </p:cNvPr>
          <p:cNvSpPr txBox="1"/>
          <p:nvPr/>
        </p:nvSpPr>
        <p:spPr>
          <a:xfrm>
            <a:off x="606056" y="718367"/>
            <a:ext cx="2282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Manhattan Distance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7DA56-5F09-B618-40CA-06D4D263B966}"/>
              </a:ext>
            </a:extLst>
          </p:cNvPr>
          <p:cNvSpPr/>
          <p:nvPr/>
        </p:nvSpPr>
        <p:spPr>
          <a:xfrm>
            <a:off x="6775446" y="225060"/>
            <a:ext cx="736759" cy="84749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F3F54-33E6-8C60-6391-F6661E16C35C}"/>
              </a:ext>
            </a:extLst>
          </p:cNvPr>
          <p:cNvSpPr/>
          <p:nvPr/>
        </p:nvSpPr>
        <p:spPr>
          <a:xfrm>
            <a:off x="5270032" y="2683726"/>
            <a:ext cx="736759" cy="84749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B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10A5D-BA5F-EE25-1177-4DA434D2EC70}"/>
              </a:ext>
            </a:extLst>
          </p:cNvPr>
          <p:cNvSpPr/>
          <p:nvPr/>
        </p:nvSpPr>
        <p:spPr>
          <a:xfrm>
            <a:off x="8106163" y="1212964"/>
            <a:ext cx="736759" cy="74342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0C8E61-CD2D-F95A-B3D0-630F34B5AD3C}"/>
              </a:ext>
            </a:extLst>
          </p:cNvPr>
          <p:cNvSpPr/>
          <p:nvPr/>
        </p:nvSpPr>
        <p:spPr>
          <a:xfrm>
            <a:off x="221468" y="5767919"/>
            <a:ext cx="736759" cy="74342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58F55A6-116A-C25C-A908-522B7C538CD6}"/>
              </a:ext>
            </a:extLst>
          </p:cNvPr>
          <p:cNvCxnSpPr>
            <a:stCxn id="4" idx="0"/>
            <a:endCxn id="12" idx="1"/>
          </p:cNvCxnSpPr>
          <p:nvPr/>
        </p:nvCxnSpPr>
        <p:spPr>
          <a:xfrm rot="5400000" flipH="1" flipV="1">
            <a:off x="3406720" y="-495434"/>
            <a:ext cx="2619331" cy="6779556"/>
          </a:xfrm>
          <a:prstGeom prst="bentConnector2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D7B4663-1E9A-E3F7-9D89-08291EB55B22}"/>
              </a:ext>
            </a:extLst>
          </p:cNvPr>
          <p:cNvCxnSpPr>
            <a:endCxn id="12" idx="2"/>
          </p:cNvCxnSpPr>
          <p:nvPr/>
        </p:nvCxnSpPr>
        <p:spPr>
          <a:xfrm flipV="1">
            <a:off x="6006791" y="1956391"/>
            <a:ext cx="2467752" cy="1151081"/>
          </a:xfrm>
          <a:prstGeom prst="bentConnector2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86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2818-CEA6-A39D-FE02-1DB4CD28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893F-98B9-9BEA-BB67-97233BDD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35" y="358228"/>
            <a:ext cx="8248614" cy="12029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rgbClr val="000000"/>
                </a:solidFill>
              </a:rPr>
              <a:t>Greedy Best-First Search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A02F39-725A-ED34-12BC-993116B04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234" y="1906859"/>
                <a:ext cx="8640380" cy="3334214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This a search algorithm that expands the node that is closest to the goal as estimated by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/>
                  <a:t>Is a form of best-first search that expands first the node with the Greedy best-first search lowest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value.</a:t>
                </a:r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A02F39-725A-ED34-12BC-993116B04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234" y="1906859"/>
                <a:ext cx="8640380" cy="3334214"/>
              </a:xfrm>
              <a:blipFill>
                <a:blip r:embed="rId2"/>
                <a:stretch>
                  <a:fillRect l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548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D3B7-8311-80B1-C264-AAD406D6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85CC121-1445-DE86-3563-63DD8E00D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945404"/>
              </p:ext>
            </p:extLst>
          </p:nvPr>
        </p:nvGraphicFramePr>
        <p:xfrm>
          <a:off x="256478" y="1223377"/>
          <a:ext cx="8586444" cy="52889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5537">
                  <a:extLst>
                    <a:ext uri="{9D8B030D-6E8A-4147-A177-3AD203B41FA5}">
                      <a16:colId xmlns:a16="http://schemas.microsoft.com/office/drawing/2014/main" val="2620811181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793131759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758455826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4116021645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2311061600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1449369861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2846586615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1947661352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755874542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561588442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342628717"/>
                    </a:ext>
                  </a:extLst>
                </a:gridCol>
                <a:gridCol w="715537">
                  <a:extLst>
                    <a:ext uri="{9D8B030D-6E8A-4147-A177-3AD203B41FA5}">
                      <a16:colId xmlns:a16="http://schemas.microsoft.com/office/drawing/2014/main" val="1209820815"/>
                    </a:ext>
                  </a:extLst>
                </a:gridCol>
              </a:tblGrid>
              <a:tr h="755562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5670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67609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108250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188630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287687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29913"/>
                  </a:ext>
                </a:extLst>
              </a:tr>
              <a:tr h="755562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46985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947790F-7846-B3F4-1759-1596257C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6" y="225060"/>
            <a:ext cx="8229600" cy="5050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b="1" dirty="0">
                <a:solidFill>
                  <a:srgbClr val="000000"/>
                </a:solidFill>
              </a:rPr>
              <a:t>Greedy Best-First Search Algorithm</a:t>
            </a:r>
            <a:endParaRPr lang="en-US" sz="3200" dirty="0">
              <a:solidFill>
                <a:srgbClr val="EE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78008-5FBB-B1CA-1E64-EA9676464E22}"/>
              </a:ext>
            </a:extLst>
          </p:cNvPr>
          <p:cNvSpPr txBox="1"/>
          <p:nvPr/>
        </p:nvSpPr>
        <p:spPr>
          <a:xfrm>
            <a:off x="606056" y="718367"/>
            <a:ext cx="2282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Manhattan Distance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50C8BC-36A1-72F1-C8DE-943DC4B74391}"/>
              </a:ext>
            </a:extLst>
          </p:cNvPr>
          <p:cNvSpPr/>
          <p:nvPr/>
        </p:nvSpPr>
        <p:spPr>
          <a:xfrm>
            <a:off x="980678" y="5757900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B858C0-E8AE-E03A-1E1E-D10A68501A1C}"/>
              </a:ext>
            </a:extLst>
          </p:cNvPr>
          <p:cNvSpPr/>
          <p:nvPr/>
        </p:nvSpPr>
        <p:spPr>
          <a:xfrm>
            <a:off x="1700148" y="574726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24AD1-BE64-0708-1A7C-09FFF581A158}"/>
              </a:ext>
            </a:extLst>
          </p:cNvPr>
          <p:cNvSpPr/>
          <p:nvPr/>
        </p:nvSpPr>
        <p:spPr>
          <a:xfrm>
            <a:off x="2426704" y="574372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784A26-7152-224B-97F6-C629011F3A82}"/>
              </a:ext>
            </a:extLst>
          </p:cNvPr>
          <p:cNvSpPr/>
          <p:nvPr/>
        </p:nvSpPr>
        <p:spPr>
          <a:xfrm>
            <a:off x="2408985" y="501717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D9B836-0E55-325D-8FEB-2BC3A9BFF030}"/>
              </a:ext>
            </a:extLst>
          </p:cNvPr>
          <p:cNvSpPr/>
          <p:nvPr/>
        </p:nvSpPr>
        <p:spPr>
          <a:xfrm>
            <a:off x="2412531" y="4255179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4292E-EDBD-AB8B-88B4-FF6F7E8DE1F8}"/>
              </a:ext>
            </a:extLst>
          </p:cNvPr>
          <p:cNvSpPr/>
          <p:nvPr/>
        </p:nvSpPr>
        <p:spPr>
          <a:xfrm>
            <a:off x="3089467" y="423745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D50DB0-7D2B-5407-47D6-9E2341E24D69}"/>
              </a:ext>
            </a:extLst>
          </p:cNvPr>
          <p:cNvSpPr/>
          <p:nvPr/>
        </p:nvSpPr>
        <p:spPr>
          <a:xfrm>
            <a:off x="3128456" y="347545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A09944-07EC-B175-953C-7EC39FE209E3}"/>
              </a:ext>
            </a:extLst>
          </p:cNvPr>
          <p:cNvSpPr/>
          <p:nvPr/>
        </p:nvSpPr>
        <p:spPr>
          <a:xfrm>
            <a:off x="3124915" y="274181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1A166-21BF-CCEF-788F-C218EFE7F3BE}"/>
              </a:ext>
            </a:extLst>
          </p:cNvPr>
          <p:cNvSpPr/>
          <p:nvPr/>
        </p:nvSpPr>
        <p:spPr>
          <a:xfrm>
            <a:off x="3135551" y="1972731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010B80-0EFD-812D-E449-50CDFE02FBE4}"/>
              </a:ext>
            </a:extLst>
          </p:cNvPr>
          <p:cNvSpPr/>
          <p:nvPr/>
        </p:nvSpPr>
        <p:spPr>
          <a:xfrm>
            <a:off x="3096567" y="1210729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04EAA0-D82A-D7B7-5DB4-B6B9687B00BC}"/>
              </a:ext>
            </a:extLst>
          </p:cNvPr>
          <p:cNvSpPr/>
          <p:nvPr/>
        </p:nvSpPr>
        <p:spPr>
          <a:xfrm>
            <a:off x="3858570" y="1965640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AA626E-1490-5FC3-3FBA-2433CFAAC5FE}"/>
              </a:ext>
            </a:extLst>
          </p:cNvPr>
          <p:cNvSpPr/>
          <p:nvPr/>
        </p:nvSpPr>
        <p:spPr>
          <a:xfrm>
            <a:off x="4542594" y="1976277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9FC699-970E-BA33-4F05-0C96B3B36008}"/>
              </a:ext>
            </a:extLst>
          </p:cNvPr>
          <p:cNvSpPr/>
          <p:nvPr/>
        </p:nvSpPr>
        <p:spPr>
          <a:xfrm>
            <a:off x="4531962" y="2731190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905F61-168D-6171-9B2F-00DD264920B8}"/>
              </a:ext>
            </a:extLst>
          </p:cNvPr>
          <p:cNvSpPr/>
          <p:nvPr/>
        </p:nvSpPr>
        <p:spPr>
          <a:xfrm>
            <a:off x="5230161" y="274891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C4C45F-2DF6-0668-1990-F078565FFDDA}"/>
              </a:ext>
            </a:extLst>
          </p:cNvPr>
          <p:cNvSpPr/>
          <p:nvPr/>
        </p:nvSpPr>
        <p:spPr>
          <a:xfrm>
            <a:off x="5956715" y="2745377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F6FADF-FB6E-0DF0-4BF2-8AB6EF01DC75}"/>
              </a:ext>
            </a:extLst>
          </p:cNvPr>
          <p:cNvSpPr/>
          <p:nvPr/>
        </p:nvSpPr>
        <p:spPr>
          <a:xfrm>
            <a:off x="5992162" y="1979831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80CAA8-2BAF-E950-D969-1A13884F9A3F}"/>
              </a:ext>
            </a:extLst>
          </p:cNvPr>
          <p:cNvSpPr/>
          <p:nvPr/>
        </p:nvSpPr>
        <p:spPr>
          <a:xfrm>
            <a:off x="5995708" y="1217832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6A5AA6-3098-DA46-2CB2-DD0FE4C4B90D}"/>
              </a:ext>
            </a:extLst>
          </p:cNvPr>
          <p:cNvSpPr/>
          <p:nvPr/>
        </p:nvSpPr>
        <p:spPr>
          <a:xfrm>
            <a:off x="6676184" y="121782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7A9D99-6427-A8D8-94AF-B294FBE5DF3B}"/>
              </a:ext>
            </a:extLst>
          </p:cNvPr>
          <p:cNvSpPr/>
          <p:nvPr/>
        </p:nvSpPr>
        <p:spPr>
          <a:xfrm>
            <a:off x="5950683" y="350076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3246C0-D7AA-84DE-0305-66C61BACA5EB}"/>
              </a:ext>
            </a:extLst>
          </p:cNvPr>
          <p:cNvSpPr/>
          <p:nvPr/>
        </p:nvSpPr>
        <p:spPr>
          <a:xfrm>
            <a:off x="5974444" y="4246071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33D02-F1A3-3DDE-D607-EEBB2724BB32}"/>
              </a:ext>
            </a:extLst>
          </p:cNvPr>
          <p:cNvSpPr/>
          <p:nvPr/>
        </p:nvSpPr>
        <p:spPr>
          <a:xfrm>
            <a:off x="6687442" y="4262764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5B0C4D-5227-7033-4AC6-2F130438D068}"/>
              </a:ext>
            </a:extLst>
          </p:cNvPr>
          <p:cNvSpPr/>
          <p:nvPr/>
        </p:nvSpPr>
        <p:spPr>
          <a:xfrm>
            <a:off x="7384922" y="4246070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0D584E-BD7D-87CF-B690-2AD660EE1175}"/>
              </a:ext>
            </a:extLst>
          </p:cNvPr>
          <p:cNvSpPr/>
          <p:nvPr/>
        </p:nvSpPr>
        <p:spPr>
          <a:xfrm>
            <a:off x="8137199" y="4246069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7A6354-9940-10E7-8964-B6E8C558185D}"/>
              </a:ext>
            </a:extLst>
          </p:cNvPr>
          <p:cNvSpPr/>
          <p:nvPr/>
        </p:nvSpPr>
        <p:spPr>
          <a:xfrm>
            <a:off x="8140698" y="349165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216D98-5395-C752-773A-1A4601927D7B}"/>
              </a:ext>
            </a:extLst>
          </p:cNvPr>
          <p:cNvSpPr/>
          <p:nvPr/>
        </p:nvSpPr>
        <p:spPr>
          <a:xfrm>
            <a:off x="8097831" y="2720051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B48F9E7-4CD9-42E6-3A05-4CDE00A2516E}"/>
              </a:ext>
            </a:extLst>
          </p:cNvPr>
          <p:cNvSpPr/>
          <p:nvPr/>
        </p:nvSpPr>
        <p:spPr>
          <a:xfrm>
            <a:off x="8119442" y="1972864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5" grpId="0" animBg="1"/>
      <p:bldP spid="7" grpId="0" animBg="1"/>
      <p:bldP spid="8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4A7F17-E1BD-24C9-9574-318714E8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166EC-C630-87C9-F2BD-4FBBEEE2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1183758"/>
            <a:ext cx="4073413" cy="515324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Big Question Again</a:t>
            </a:r>
            <a:b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Is it the best solution? </a:t>
            </a:r>
            <a:b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</a:br>
            <a:endParaRPr lang="en-US" sz="5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C25153E9-85D7-C4AA-15CB-B7413CD4D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561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60DA0-0830-D9D1-6E30-CBDD0861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74AD-B65D-54CB-19AC-1038F8DB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6" y="225060"/>
            <a:ext cx="8229600" cy="5050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b="1" dirty="0">
                <a:solidFill>
                  <a:srgbClr val="000000"/>
                </a:solidFill>
              </a:rPr>
              <a:t>Greedy Best-First Search Algorithm</a:t>
            </a:r>
            <a:endParaRPr lang="en-US" sz="3200" dirty="0">
              <a:solidFill>
                <a:srgbClr val="EE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D5AFA1-D700-6213-5869-2D0560873AC5}"/>
              </a:ext>
            </a:extLst>
          </p:cNvPr>
          <p:cNvSpPr/>
          <p:nvPr/>
        </p:nvSpPr>
        <p:spPr>
          <a:xfrm>
            <a:off x="884992" y="595827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7DC6F13-A950-DE57-5DFC-E3D74E1B2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915552"/>
              </p:ext>
            </p:extLst>
          </p:nvPr>
        </p:nvGraphicFramePr>
        <p:xfrm>
          <a:off x="155944" y="1396999"/>
          <a:ext cx="8711616" cy="531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968">
                  <a:extLst>
                    <a:ext uri="{9D8B030D-6E8A-4147-A177-3AD203B41FA5}">
                      <a16:colId xmlns:a16="http://schemas.microsoft.com/office/drawing/2014/main" val="1014608724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559218090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103029866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24569737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1438009982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598613581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456777874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805216828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762458892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1209614006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236821125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836345066"/>
                    </a:ext>
                  </a:extLst>
                </a:gridCol>
              </a:tblGrid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978133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276569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27248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299446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888633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70551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546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7C731BC-33A0-9F23-3957-7F950C9EBD9F}"/>
              </a:ext>
            </a:extLst>
          </p:cNvPr>
          <p:cNvSpPr/>
          <p:nvPr/>
        </p:nvSpPr>
        <p:spPr>
          <a:xfrm>
            <a:off x="1621751" y="595827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0EC846-11E3-6EF7-DFE0-822810A0CC99}"/>
              </a:ext>
            </a:extLst>
          </p:cNvPr>
          <p:cNvSpPr/>
          <p:nvPr/>
        </p:nvSpPr>
        <p:spPr>
          <a:xfrm>
            <a:off x="2350799" y="597092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CC84C1-9964-DBFC-0054-860D1BC972FD}"/>
              </a:ext>
            </a:extLst>
          </p:cNvPr>
          <p:cNvSpPr/>
          <p:nvPr/>
        </p:nvSpPr>
        <p:spPr>
          <a:xfrm>
            <a:off x="2350798" y="5197537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F136B3-DEE7-A0D7-C5A3-8B50C7E9FA3A}"/>
              </a:ext>
            </a:extLst>
          </p:cNvPr>
          <p:cNvSpPr/>
          <p:nvPr/>
        </p:nvSpPr>
        <p:spPr>
          <a:xfrm>
            <a:off x="2358510" y="444312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657D01-DBB5-F3BC-9C05-E22CC6C8BD0F}"/>
              </a:ext>
            </a:extLst>
          </p:cNvPr>
          <p:cNvSpPr/>
          <p:nvPr/>
        </p:nvSpPr>
        <p:spPr>
          <a:xfrm>
            <a:off x="2350797" y="368871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3432B5-98FC-9214-5B83-26C8E46E32F8}"/>
              </a:ext>
            </a:extLst>
          </p:cNvPr>
          <p:cNvSpPr/>
          <p:nvPr/>
        </p:nvSpPr>
        <p:spPr>
          <a:xfrm>
            <a:off x="2350796" y="2915324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E6D006-6B9D-3E04-F4C2-413D2BD293F6}"/>
              </a:ext>
            </a:extLst>
          </p:cNvPr>
          <p:cNvSpPr/>
          <p:nvPr/>
        </p:nvSpPr>
        <p:spPr>
          <a:xfrm>
            <a:off x="3087555" y="2908997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C327E8-60F3-3E3B-DF56-49385D45ED3F}"/>
              </a:ext>
            </a:extLst>
          </p:cNvPr>
          <p:cNvSpPr/>
          <p:nvPr/>
        </p:nvSpPr>
        <p:spPr>
          <a:xfrm>
            <a:off x="3789519" y="2928984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A8FF11-29D5-167C-D573-1D3A530E2BA0}"/>
              </a:ext>
            </a:extLst>
          </p:cNvPr>
          <p:cNvSpPr/>
          <p:nvPr/>
        </p:nvSpPr>
        <p:spPr>
          <a:xfrm>
            <a:off x="4521436" y="2904669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BF9E78-79A2-1B99-B7F2-4A1E5EA0EF42}"/>
              </a:ext>
            </a:extLst>
          </p:cNvPr>
          <p:cNvSpPr/>
          <p:nvPr/>
        </p:nvSpPr>
        <p:spPr>
          <a:xfrm>
            <a:off x="5218558" y="292721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4BF0961-2AEA-B38E-E0A1-A46B71B43E42}"/>
              </a:ext>
            </a:extLst>
          </p:cNvPr>
          <p:cNvSpPr/>
          <p:nvPr/>
        </p:nvSpPr>
        <p:spPr>
          <a:xfrm>
            <a:off x="5960159" y="2925892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F544344-45B4-2DCB-3606-83B3A04B4727}"/>
              </a:ext>
            </a:extLst>
          </p:cNvPr>
          <p:cNvSpPr/>
          <p:nvPr/>
        </p:nvSpPr>
        <p:spPr>
          <a:xfrm>
            <a:off x="6683826" y="2928984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6B85C0-261D-8B08-1D1A-2D9C82F868D6}"/>
              </a:ext>
            </a:extLst>
          </p:cNvPr>
          <p:cNvSpPr/>
          <p:nvPr/>
        </p:nvSpPr>
        <p:spPr>
          <a:xfrm>
            <a:off x="6672258" y="366616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E6F22D-9E50-DAE0-B144-3037E1D02F45}"/>
              </a:ext>
            </a:extLst>
          </p:cNvPr>
          <p:cNvSpPr/>
          <p:nvPr/>
        </p:nvSpPr>
        <p:spPr>
          <a:xfrm>
            <a:off x="6683826" y="443501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410B1D-7330-8070-A2B4-2DE82BEC7F42}"/>
              </a:ext>
            </a:extLst>
          </p:cNvPr>
          <p:cNvSpPr/>
          <p:nvPr/>
        </p:nvSpPr>
        <p:spPr>
          <a:xfrm>
            <a:off x="5983308" y="445478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669765-958E-2BD0-2F26-0CEF92AABB47}"/>
              </a:ext>
            </a:extLst>
          </p:cNvPr>
          <p:cNvSpPr/>
          <p:nvPr/>
        </p:nvSpPr>
        <p:spPr>
          <a:xfrm>
            <a:off x="5241249" y="442423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66695B-AD54-13DD-1BFD-EE54EC9141B1}"/>
              </a:ext>
            </a:extLst>
          </p:cNvPr>
          <p:cNvSpPr/>
          <p:nvPr/>
        </p:nvSpPr>
        <p:spPr>
          <a:xfrm>
            <a:off x="4496777" y="4420579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BF6F6F-5AE4-1695-4E14-400EF10AEBD9}"/>
              </a:ext>
            </a:extLst>
          </p:cNvPr>
          <p:cNvSpPr/>
          <p:nvPr/>
        </p:nvSpPr>
        <p:spPr>
          <a:xfrm>
            <a:off x="3784677" y="443501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254BBD-5B9C-AE69-79EA-5B0C2E459EAB}"/>
              </a:ext>
            </a:extLst>
          </p:cNvPr>
          <p:cNvSpPr/>
          <p:nvPr/>
        </p:nvSpPr>
        <p:spPr>
          <a:xfrm>
            <a:off x="3802529" y="5189427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5275C34-4A8B-647A-F44A-A1D05E6B636C}"/>
              </a:ext>
            </a:extLst>
          </p:cNvPr>
          <p:cNvSpPr/>
          <p:nvPr/>
        </p:nvSpPr>
        <p:spPr>
          <a:xfrm>
            <a:off x="3784677" y="5972713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51FF7A3-9217-C4B8-AF4E-A5E258E3049A}"/>
              </a:ext>
            </a:extLst>
          </p:cNvPr>
          <p:cNvSpPr/>
          <p:nvPr/>
        </p:nvSpPr>
        <p:spPr>
          <a:xfrm>
            <a:off x="4507896" y="597092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9477F1-3593-AD51-8D8A-A64CF484E3EC}"/>
              </a:ext>
            </a:extLst>
          </p:cNvPr>
          <p:cNvSpPr/>
          <p:nvPr/>
        </p:nvSpPr>
        <p:spPr>
          <a:xfrm>
            <a:off x="5218558" y="595827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855AEA4-B20B-73EF-EA5E-2BA7240F819F}"/>
              </a:ext>
            </a:extLst>
          </p:cNvPr>
          <p:cNvSpPr/>
          <p:nvPr/>
        </p:nvSpPr>
        <p:spPr>
          <a:xfrm>
            <a:off x="5958104" y="595194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1E67C3E-5C4B-FE67-DAEA-4D615080529F}"/>
              </a:ext>
            </a:extLst>
          </p:cNvPr>
          <p:cNvSpPr/>
          <p:nvPr/>
        </p:nvSpPr>
        <p:spPr>
          <a:xfrm>
            <a:off x="6683826" y="5939267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C8D239-B8E6-5A76-9A34-287DD57F074E}"/>
              </a:ext>
            </a:extLst>
          </p:cNvPr>
          <p:cNvSpPr/>
          <p:nvPr/>
        </p:nvSpPr>
        <p:spPr>
          <a:xfrm>
            <a:off x="7423911" y="5939397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9A2817A-7BE1-EDA8-3F45-CEA3F63BF8D4}"/>
              </a:ext>
            </a:extLst>
          </p:cNvPr>
          <p:cNvSpPr/>
          <p:nvPr/>
        </p:nvSpPr>
        <p:spPr>
          <a:xfrm>
            <a:off x="8125283" y="595194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1B74B8F-E4B0-114B-BCA0-F08E75707D9D}"/>
              </a:ext>
            </a:extLst>
          </p:cNvPr>
          <p:cNvSpPr/>
          <p:nvPr/>
        </p:nvSpPr>
        <p:spPr>
          <a:xfrm>
            <a:off x="8153582" y="5189166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3A28FE4-9AC3-2047-4D92-CA4D861EC052}"/>
              </a:ext>
            </a:extLst>
          </p:cNvPr>
          <p:cNvSpPr/>
          <p:nvPr/>
        </p:nvSpPr>
        <p:spPr>
          <a:xfrm>
            <a:off x="8121302" y="4454785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111A77F-B0AD-6B80-E6B7-9455E4BCB789}"/>
              </a:ext>
            </a:extLst>
          </p:cNvPr>
          <p:cNvSpPr/>
          <p:nvPr/>
        </p:nvSpPr>
        <p:spPr>
          <a:xfrm>
            <a:off x="8125283" y="369618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CD04297-E6D6-310B-7EB1-61475AAB05D7}"/>
              </a:ext>
            </a:extLst>
          </p:cNvPr>
          <p:cNvSpPr/>
          <p:nvPr/>
        </p:nvSpPr>
        <p:spPr>
          <a:xfrm>
            <a:off x="8153581" y="2925892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0CE6F59-64CE-FB36-0432-79F0A09B54E0}"/>
              </a:ext>
            </a:extLst>
          </p:cNvPr>
          <p:cNvSpPr/>
          <p:nvPr/>
        </p:nvSpPr>
        <p:spPr>
          <a:xfrm>
            <a:off x="8153580" y="2150258"/>
            <a:ext cx="736759" cy="7544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6EE95D-04F9-2280-BFC6-C56660762E85}"/>
              </a:ext>
            </a:extLst>
          </p:cNvPr>
          <p:cNvSpPr/>
          <p:nvPr/>
        </p:nvSpPr>
        <p:spPr>
          <a:xfrm>
            <a:off x="1618795" y="4454785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3BD97C3-5CE7-3382-C740-664B4E760C6E}"/>
              </a:ext>
            </a:extLst>
          </p:cNvPr>
          <p:cNvSpPr/>
          <p:nvPr/>
        </p:nvSpPr>
        <p:spPr>
          <a:xfrm>
            <a:off x="885066" y="4424235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E60B116-6A16-84D5-851A-1A174105D115}"/>
              </a:ext>
            </a:extLst>
          </p:cNvPr>
          <p:cNvSpPr/>
          <p:nvPr/>
        </p:nvSpPr>
        <p:spPr>
          <a:xfrm>
            <a:off x="862751" y="3672643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701EA4-73F2-8C6B-7CCD-CE674A5B23A4}"/>
              </a:ext>
            </a:extLst>
          </p:cNvPr>
          <p:cNvSpPr/>
          <p:nvPr/>
        </p:nvSpPr>
        <p:spPr>
          <a:xfrm>
            <a:off x="862750" y="2918232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5909BCB-78A7-6A44-4638-CA1837D35DE5}"/>
              </a:ext>
            </a:extLst>
          </p:cNvPr>
          <p:cNvSpPr/>
          <p:nvPr/>
        </p:nvSpPr>
        <p:spPr>
          <a:xfrm>
            <a:off x="862751" y="2160913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31FD73-1C1A-D32F-634F-5683109E5AFC}"/>
              </a:ext>
            </a:extLst>
          </p:cNvPr>
          <p:cNvSpPr/>
          <p:nvPr/>
        </p:nvSpPr>
        <p:spPr>
          <a:xfrm>
            <a:off x="885066" y="1395847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B34CA2C-74FD-AD23-DC4B-290DCFDAE736}"/>
              </a:ext>
            </a:extLst>
          </p:cNvPr>
          <p:cNvSpPr/>
          <p:nvPr/>
        </p:nvSpPr>
        <p:spPr>
          <a:xfrm>
            <a:off x="1624255" y="1402174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4A21D1-5781-3997-8E04-789E63C7100E}"/>
              </a:ext>
            </a:extLst>
          </p:cNvPr>
          <p:cNvSpPr/>
          <p:nvPr/>
        </p:nvSpPr>
        <p:spPr>
          <a:xfrm>
            <a:off x="2306317" y="1396325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1EA0D43-7EC7-8B6C-A64A-F72EFA17ECCE}"/>
              </a:ext>
            </a:extLst>
          </p:cNvPr>
          <p:cNvSpPr/>
          <p:nvPr/>
        </p:nvSpPr>
        <p:spPr>
          <a:xfrm>
            <a:off x="3052760" y="1413834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F5B66B3-1A75-BDDA-4755-793C97D2DB04}"/>
              </a:ext>
            </a:extLst>
          </p:cNvPr>
          <p:cNvSpPr/>
          <p:nvPr/>
        </p:nvSpPr>
        <p:spPr>
          <a:xfrm>
            <a:off x="3784677" y="1410168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449571-E011-2FEB-AC45-BA98A838B097}"/>
              </a:ext>
            </a:extLst>
          </p:cNvPr>
          <p:cNvSpPr/>
          <p:nvPr/>
        </p:nvSpPr>
        <p:spPr>
          <a:xfrm>
            <a:off x="4517210" y="1390850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F181211-62DB-BF58-9148-29463A7AE3A9}"/>
              </a:ext>
            </a:extLst>
          </p:cNvPr>
          <p:cNvSpPr/>
          <p:nvPr/>
        </p:nvSpPr>
        <p:spPr>
          <a:xfrm>
            <a:off x="5227935" y="1388759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CC5F2C9-9986-BC99-27C8-52B06A36556D}"/>
              </a:ext>
            </a:extLst>
          </p:cNvPr>
          <p:cNvSpPr/>
          <p:nvPr/>
        </p:nvSpPr>
        <p:spPr>
          <a:xfrm>
            <a:off x="5975294" y="1390850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915C163-5670-61B9-E7BC-E4CB1E9BB44B}"/>
              </a:ext>
            </a:extLst>
          </p:cNvPr>
          <p:cNvSpPr/>
          <p:nvPr/>
        </p:nvSpPr>
        <p:spPr>
          <a:xfrm>
            <a:off x="6706096" y="1402174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7DB5347-9CC7-1FD3-2E56-68D0F9EE183F}"/>
              </a:ext>
            </a:extLst>
          </p:cNvPr>
          <p:cNvSpPr/>
          <p:nvPr/>
        </p:nvSpPr>
        <p:spPr>
          <a:xfrm>
            <a:off x="7388524" y="1382864"/>
            <a:ext cx="736759" cy="75441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0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3" grpId="0" animBg="1"/>
      <p:bldP spid="17" grpId="0" animBg="1"/>
      <p:bldP spid="19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250D-49CB-9D9C-FA1A-DBD6615F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19988-9296-D6B8-CC13-DD97C9AC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35" y="358228"/>
            <a:ext cx="8248614" cy="12029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rgbClr val="000000"/>
                </a:solidFill>
              </a:rPr>
              <a:t>A* Search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3B96F-444B-52B5-6395-53A902C56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234" y="1906859"/>
                <a:ext cx="8711264" cy="4820006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/>
                  <a:t>The most common informed search algorithm  is A* search, a A* search best-first search that uses the evaluation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/>
                  <a:t>is the path cost from the initial state to node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estimated cost of the shortest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a goal state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estimated cost of the best path that continues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to a goal.</a:t>
                </a:r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3B96F-444B-52B5-6395-53A902C56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234" y="1906859"/>
                <a:ext cx="8711264" cy="4820006"/>
              </a:xfrm>
              <a:blipFill>
                <a:blip r:embed="rId2"/>
                <a:stretch>
                  <a:fillRect l="-1749" t="-1139" r="-2729" b="-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872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DD1D-0BC4-85C7-AA95-F8716996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FB8D664-418E-5230-E356-BA534DBDA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978687"/>
              </p:ext>
            </p:extLst>
          </p:nvPr>
        </p:nvGraphicFramePr>
        <p:xfrm>
          <a:off x="155944" y="1396999"/>
          <a:ext cx="8711616" cy="5315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968">
                  <a:extLst>
                    <a:ext uri="{9D8B030D-6E8A-4147-A177-3AD203B41FA5}">
                      <a16:colId xmlns:a16="http://schemas.microsoft.com/office/drawing/2014/main" val="1014608724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559218090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103029866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24569737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1438009982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598613581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456777874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2805216828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762458892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1209614006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236821125"/>
                    </a:ext>
                  </a:extLst>
                </a:gridCol>
                <a:gridCol w="725968">
                  <a:extLst>
                    <a:ext uri="{9D8B030D-6E8A-4147-A177-3AD203B41FA5}">
                      <a16:colId xmlns:a16="http://schemas.microsoft.com/office/drawing/2014/main" val="3836345066"/>
                    </a:ext>
                  </a:extLst>
                </a:gridCol>
              </a:tblGrid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978133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276569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27248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299446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888633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70551"/>
                  </a:ext>
                </a:extLst>
              </a:tr>
              <a:tr h="759384"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54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4339E7D-13D0-0F9F-503F-D8950006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6" y="225060"/>
            <a:ext cx="8229600" cy="5050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3200" b="1" dirty="0">
                <a:solidFill>
                  <a:srgbClr val="000000"/>
                </a:solidFill>
              </a:rPr>
              <a:t>A* Search Algorithm</a:t>
            </a:r>
            <a:endParaRPr lang="en-US" sz="3200" dirty="0">
              <a:solidFill>
                <a:srgbClr val="EE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862267-3633-27FD-C87C-F29EA98622B8}"/>
              </a:ext>
            </a:extLst>
          </p:cNvPr>
          <p:cNvSpPr/>
          <p:nvPr/>
        </p:nvSpPr>
        <p:spPr>
          <a:xfrm>
            <a:off x="884992" y="5958276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1+16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D4DB3-09C5-F761-C766-2714D98970AF}"/>
              </a:ext>
            </a:extLst>
          </p:cNvPr>
          <p:cNvSpPr/>
          <p:nvPr/>
        </p:nvSpPr>
        <p:spPr>
          <a:xfrm>
            <a:off x="1621751" y="5958276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2+15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C9FF8-C1AA-3A08-0E98-D4A5B0DBCD0E}"/>
              </a:ext>
            </a:extLst>
          </p:cNvPr>
          <p:cNvSpPr/>
          <p:nvPr/>
        </p:nvSpPr>
        <p:spPr>
          <a:xfrm>
            <a:off x="2350799" y="5958276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3+14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FB501-9A31-F88A-DFC3-82841E3CDA05}"/>
              </a:ext>
            </a:extLst>
          </p:cNvPr>
          <p:cNvSpPr/>
          <p:nvPr/>
        </p:nvSpPr>
        <p:spPr>
          <a:xfrm>
            <a:off x="2350798" y="5203865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4+13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A9FB7-7F87-FA2D-D6A0-A985059B732D}"/>
              </a:ext>
            </a:extLst>
          </p:cNvPr>
          <p:cNvSpPr/>
          <p:nvPr/>
        </p:nvSpPr>
        <p:spPr>
          <a:xfrm>
            <a:off x="2344334" y="4449454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5+12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5E2994-F259-2689-415B-87D1BEFD2CFA}"/>
              </a:ext>
            </a:extLst>
          </p:cNvPr>
          <p:cNvSpPr/>
          <p:nvPr/>
        </p:nvSpPr>
        <p:spPr>
          <a:xfrm>
            <a:off x="2344334" y="3677637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6+11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6E31E9-264D-2CB2-92BB-38CBF0B3B71F}"/>
              </a:ext>
            </a:extLst>
          </p:cNvPr>
          <p:cNvSpPr/>
          <p:nvPr/>
        </p:nvSpPr>
        <p:spPr>
          <a:xfrm>
            <a:off x="2344333" y="293192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7+10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70CEBE-728F-172C-FDB5-4FA7CDB188B7}"/>
              </a:ext>
            </a:extLst>
          </p:cNvPr>
          <p:cNvSpPr/>
          <p:nvPr/>
        </p:nvSpPr>
        <p:spPr>
          <a:xfrm>
            <a:off x="3087558" y="293192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8+9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2C456D-F497-FCDD-CBEE-42E85154A140}"/>
              </a:ext>
            </a:extLst>
          </p:cNvPr>
          <p:cNvSpPr/>
          <p:nvPr/>
        </p:nvSpPr>
        <p:spPr>
          <a:xfrm>
            <a:off x="3835241" y="2931928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9+8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921EB-7A80-9DE8-7296-213A06BB6C57}"/>
              </a:ext>
            </a:extLst>
          </p:cNvPr>
          <p:cNvSpPr/>
          <p:nvPr/>
        </p:nvSpPr>
        <p:spPr>
          <a:xfrm>
            <a:off x="4589390" y="293192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10+7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537FB4-940D-6433-7B37-CD57E7255012}"/>
              </a:ext>
            </a:extLst>
          </p:cNvPr>
          <p:cNvSpPr/>
          <p:nvPr/>
        </p:nvSpPr>
        <p:spPr>
          <a:xfrm>
            <a:off x="5326149" y="293192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11+6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9BA735-8210-24B1-F7CC-474AF1DCDED9}"/>
              </a:ext>
            </a:extLst>
          </p:cNvPr>
          <p:cNvSpPr/>
          <p:nvPr/>
        </p:nvSpPr>
        <p:spPr>
          <a:xfrm>
            <a:off x="6062908" y="293192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12+5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825764-A12C-7FAB-5011-37EBB7537F84}"/>
              </a:ext>
            </a:extLst>
          </p:cNvPr>
          <p:cNvSpPr/>
          <p:nvPr/>
        </p:nvSpPr>
        <p:spPr>
          <a:xfrm>
            <a:off x="6707211" y="293192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13+4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E81EF6-A4D2-37B1-3B8F-01250B8A421F}"/>
              </a:ext>
            </a:extLst>
          </p:cNvPr>
          <p:cNvSpPr/>
          <p:nvPr/>
        </p:nvSpPr>
        <p:spPr>
          <a:xfrm>
            <a:off x="6707210" y="3695043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14+5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E2B898-90F1-7E01-3B6A-BECC9B51DB24}"/>
              </a:ext>
            </a:extLst>
          </p:cNvPr>
          <p:cNvSpPr/>
          <p:nvPr/>
        </p:nvSpPr>
        <p:spPr>
          <a:xfrm>
            <a:off x="1601111" y="4440751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6+13</a:t>
            </a:r>
            <a:endParaRPr lang="en-US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7C6926-A760-B9C5-97BF-547EAA8AFD67}"/>
              </a:ext>
            </a:extLst>
          </p:cNvPr>
          <p:cNvSpPr/>
          <p:nvPr/>
        </p:nvSpPr>
        <p:spPr>
          <a:xfrm>
            <a:off x="6707211" y="4432048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15+6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BC1D3F-B9D4-E6FC-1085-D61FDB15EDC3}"/>
              </a:ext>
            </a:extLst>
          </p:cNvPr>
          <p:cNvSpPr/>
          <p:nvPr/>
        </p:nvSpPr>
        <p:spPr>
          <a:xfrm>
            <a:off x="892391" y="4449454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7+14</a:t>
            </a:r>
            <a:endParaRPr lang="en-US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E1C7D9-35C7-A807-3EE3-9C8E4A04A7C9}"/>
              </a:ext>
            </a:extLst>
          </p:cNvPr>
          <p:cNvSpPr/>
          <p:nvPr/>
        </p:nvSpPr>
        <p:spPr>
          <a:xfrm>
            <a:off x="884992" y="3677636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8+13</a:t>
            </a:r>
            <a:endParaRPr lang="en-US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A4DD8E-E131-0BEC-16A9-E548D29E5C79}"/>
              </a:ext>
            </a:extLst>
          </p:cNvPr>
          <p:cNvSpPr/>
          <p:nvPr/>
        </p:nvSpPr>
        <p:spPr>
          <a:xfrm>
            <a:off x="870815" y="2905818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9+12</a:t>
            </a:r>
            <a:endParaRPr lang="en-US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ABC6E-BB77-3016-4D87-91A646089448}"/>
              </a:ext>
            </a:extLst>
          </p:cNvPr>
          <p:cNvSpPr/>
          <p:nvPr/>
        </p:nvSpPr>
        <p:spPr>
          <a:xfrm>
            <a:off x="870815" y="2168814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10+11</a:t>
            </a:r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EFF392-D7DD-8E4D-C0FE-3C0032DC2E4C}"/>
              </a:ext>
            </a:extLst>
          </p:cNvPr>
          <p:cNvSpPr/>
          <p:nvPr/>
        </p:nvSpPr>
        <p:spPr>
          <a:xfrm>
            <a:off x="878215" y="1414403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11+10</a:t>
            </a:r>
            <a:endParaRPr lang="en-US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D89780-CD24-C294-8CEC-F495B5BC006B}"/>
              </a:ext>
            </a:extLst>
          </p:cNvPr>
          <p:cNvSpPr/>
          <p:nvPr/>
        </p:nvSpPr>
        <p:spPr>
          <a:xfrm>
            <a:off x="1618778" y="1410053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12+9</a:t>
            </a:r>
            <a:endParaRPr lang="en-US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18F569-EF25-6660-1992-80507CA5FA85}"/>
              </a:ext>
            </a:extLst>
          </p:cNvPr>
          <p:cNvSpPr/>
          <p:nvPr/>
        </p:nvSpPr>
        <p:spPr>
          <a:xfrm>
            <a:off x="2355537" y="1399107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13+8</a:t>
            </a:r>
            <a:endParaRPr lang="en-US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043ADB-1E5C-EF2C-9F98-54D53E7AA70E}"/>
              </a:ext>
            </a:extLst>
          </p:cNvPr>
          <p:cNvSpPr/>
          <p:nvPr/>
        </p:nvSpPr>
        <p:spPr>
          <a:xfrm>
            <a:off x="3077808" y="1411554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14+7</a:t>
            </a:r>
            <a:endParaRPr lang="en-US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BF4DF6-C9AC-B1A4-51BD-EA7EE67B59EA}"/>
              </a:ext>
            </a:extLst>
          </p:cNvPr>
          <p:cNvSpPr/>
          <p:nvPr/>
        </p:nvSpPr>
        <p:spPr>
          <a:xfrm>
            <a:off x="3794756" y="1417330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15+6</a:t>
            </a:r>
            <a:endParaRPr lang="en-US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B3551C-2C5A-2AF6-8FA7-70FF19292315}"/>
              </a:ext>
            </a:extLst>
          </p:cNvPr>
          <p:cNvSpPr/>
          <p:nvPr/>
        </p:nvSpPr>
        <p:spPr>
          <a:xfrm>
            <a:off x="4511752" y="139699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16+5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0D809B-0C21-0807-C2DD-FC4416B8AC17}"/>
              </a:ext>
            </a:extLst>
          </p:cNvPr>
          <p:cNvSpPr/>
          <p:nvPr/>
        </p:nvSpPr>
        <p:spPr>
          <a:xfrm>
            <a:off x="5245830" y="1407164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17+4</a:t>
            </a:r>
            <a:endParaRPr lang="en-US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5C09CE-6CA9-26D0-1127-2BEE24567898}"/>
              </a:ext>
            </a:extLst>
          </p:cNvPr>
          <p:cNvSpPr/>
          <p:nvPr/>
        </p:nvSpPr>
        <p:spPr>
          <a:xfrm>
            <a:off x="5986996" y="1403154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18+3</a:t>
            </a:r>
            <a:endParaRPr lang="en-US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5CD17F-1CF7-8BB5-4ECD-B8B9D05DA815}"/>
              </a:ext>
            </a:extLst>
          </p:cNvPr>
          <p:cNvSpPr/>
          <p:nvPr/>
        </p:nvSpPr>
        <p:spPr>
          <a:xfrm>
            <a:off x="6725481" y="1405159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19+2</a:t>
            </a:r>
            <a:endParaRPr lang="en-US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84A9583-F208-9514-B0AC-B4BD22D4A44F}"/>
              </a:ext>
            </a:extLst>
          </p:cNvPr>
          <p:cNvSpPr/>
          <p:nvPr/>
        </p:nvSpPr>
        <p:spPr>
          <a:xfrm>
            <a:off x="7468373" y="1417330"/>
            <a:ext cx="736759" cy="754411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20+1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0061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8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5C71-18E3-3F3F-A766-2062213F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DCC-CBC3-DDAB-8BD6-02A8B7FD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35" y="358228"/>
            <a:ext cx="8248614" cy="12029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rgbClr val="000000"/>
                </a:solidFill>
              </a:rPr>
              <a:t>A* Search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08428-5D86-7B69-09D1-82796D713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234" y="1906859"/>
                <a:ext cx="8711264" cy="4820006"/>
              </a:xfrm>
            </p:spPr>
            <p:txBody>
              <a:bodyPr anchor="ctr">
                <a:normAutofit fontScale="92500"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</a:rPr>
                  <a:t>Is Optimal if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</a:rPr>
                  <a:t>h(n) never overestimates the true cost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</a:rPr>
                  <a:t>h(n) is consistent</a:t>
                </a: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	</a:t>
                </a:r>
                <a:r>
                  <a:rPr lang="en-US" dirty="0" err="1">
                    <a:solidFill>
                      <a:srgbClr val="000000"/>
                    </a:solidFill>
                  </a:rPr>
                  <a:t>i.e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𝑒𝑣𝑒𝑟𝑦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𝑠𝑢𝑐𝑐𝑒𝑠𝑠𝑜𝑟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𝑠𝑡𝑒𝑝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𝑐𝑜𝑠𝑡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08428-5D86-7B69-09D1-82796D713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234" y="1906859"/>
                <a:ext cx="8711264" cy="4820006"/>
              </a:xfrm>
              <a:blipFill>
                <a:blip r:embed="rId2"/>
                <a:stretch>
                  <a:fillRect l="-1400" r="-2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279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8450</TotalTime>
  <Words>1120</Words>
  <Application>Microsoft Office PowerPoint</Application>
  <PresentationFormat>On-screen Show (4:3)</PresentationFormat>
  <Paragraphs>317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Wingdings</vt:lpstr>
      <vt:lpstr>Office Theme</vt:lpstr>
      <vt:lpstr>The Approach</vt:lpstr>
      <vt:lpstr>Example: Find a path from A to E</vt:lpstr>
      <vt:lpstr>Example: Find a path from A to E</vt:lpstr>
      <vt:lpstr>The Problem of this Approach Example: Find a path from A to E</vt:lpstr>
      <vt:lpstr>Revised Approach</vt:lpstr>
      <vt:lpstr>How to Remove from the Froniter</vt:lpstr>
      <vt:lpstr>Depth-First Search Algorithm (stack datatype) Example: Find a path from A to E</vt:lpstr>
      <vt:lpstr>Breath-First Search Algorithm (Queue datatype) Example: Find a path from A to E</vt:lpstr>
      <vt:lpstr>Practical Examples</vt:lpstr>
      <vt:lpstr>Depth-First Search Algorithm</vt:lpstr>
      <vt:lpstr>Big Question</vt:lpstr>
      <vt:lpstr>Depth-First Search Algorithm</vt:lpstr>
      <vt:lpstr>Breadth-First Search Algorithm</vt:lpstr>
      <vt:lpstr>Breadth-First Search Algorithm</vt:lpstr>
      <vt:lpstr>Need for a More Intelligent Search Algorithm </vt:lpstr>
      <vt:lpstr>Types of Search Algorithms</vt:lpstr>
      <vt:lpstr>Uninformed Search Algorithms</vt:lpstr>
      <vt:lpstr>Other Uninformed Search Algorithms</vt:lpstr>
      <vt:lpstr>Informed Search Algorithms (Heuristic)</vt:lpstr>
      <vt:lpstr>Informed Search Algorithms (Heuristic)</vt:lpstr>
      <vt:lpstr>Heuristic Function</vt:lpstr>
      <vt:lpstr>Greedy Best-First Search Algorithm</vt:lpstr>
      <vt:lpstr>Greedy Best-First Search Algorithm</vt:lpstr>
      <vt:lpstr>Big Question Again Is it the best solution?  </vt:lpstr>
      <vt:lpstr>Greedy Best-First Search Algorithm</vt:lpstr>
      <vt:lpstr>A* Search Algorithm</vt:lpstr>
      <vt:lpstr>A* Search Algorithm</vt:lpstr>
      <vt:lpstr>A* Search Algorithm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Dman</dc:creator>
  <cp:keywords/>
  <dc:description>generated using python-pptx</dc:description>
  <cp:lastModifiedBy>Dada Ibidapo</cp:lastModifiedBy>
  <cp:revision>17</cp:revision>
  <dcterms:created xsi:type="dcterms:W3CDTF">2013-01-27T09:14:16Z</dcterms:created>
  <dcterms:modified xsi:type="dcterms:W3CDTF">2026-03-27T04:19:59Z</dcterms:modified>
  <cp:category/>
</cp:coreProperties>
</file>