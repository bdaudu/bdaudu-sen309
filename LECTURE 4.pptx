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6" autoAdjust="0"/>
    <p:restoredTop sz="94660"/>
  </p:normalViewPr>
  <p:slideViewPr>
    <p:cSldViewPr snapToGrid="0">
      <p:cViewPr varScale="1">
        <p:scale>
          <a:sx n="99" d="100"/>
          <a:sy n="99" d="100"/>
        </p:scale>
        <p:origin x="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4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9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30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3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9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4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8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1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57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3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8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FBC0D-A43D-4220-88C1-DE6B7E626395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8FA3F-9DA4-4F65-8455-A63A712F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1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AAFC371-59CE-7AF0-AFC8-68385B61F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757A36-1BAB-1F69-1E4A-ADB8250D4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874" y="325369"/>
            <a:ext cx="3992137" cy="503836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ADVERSARIAL SEARCH: MINIMAX &amp; ALPHA–BETA PRUNING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668AFB-810D-63F2-C5A0-B486D8999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061" y="5675971"/>
            <a:ext cx="2898760" cy="5175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Lecture 5</a:t>
            </a:r>
          </a:p>
        </p:txBody>
      </p:sp>
      <p:pic>
        <p:nvPicPr>
          <p:cNvPr id="14" name="Picture 13" descr="Robot operating a machine">
            <a:extLst>
              <a:ext uri="{FF2B5EF4-FFF2-40B4-BE49-F238E27FC236}">
                <a16:creationId xmlns="" xmlns:a16="http://schemas.microsoft.com/office/drawing/2014/main" id="{29082DC1-DB59-D38E-458A-914FA24A0E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92" r="20171" b="1"/>
          <a:stretch>
            <a:fillRect/>
          </a:stretch>
        </p:blipFill>
        <p:spPr>
          <a:xfrm>
            <a:off x="5507777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8189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50439CF-7506-8396-BA48-EC38637B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E379A3-45B1-E5D7-527A-54314AAB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639194"/>
            <a:ext cx="3433621" cy="14944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b="1" dirty="0"/>
              <a:t>Adversarial search</a:t>
            </a:r>
            <a:endParaRPr lang="en-US" sz="5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86FDC34-CCAF-8EFC-E7EC-4A2AA9A9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159" y="2594344"/>
            <a:ext cx="6701362" cy="36244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Adversarial search deals with environments where:</a:t>
            </a:r>
          </a:p>
          <a:p>
            <a:pPr lvl="1"/>
            <a:r>
              <a:rPr lang="en-US" sz="2000" dirty="0"/>
              <a:t>Multiple agents exist </a:t>
            </a:r>
          </a:p>
          <a:p>
            <a:pPr lvl="1"/>
            <a:r>
              <a:rPr lang="en-US" sz="2000" dirty="0"/>
              <a:t>Agents have </a:t>
            </a:r>
            <a:r>
              <a:rPr lang="en-US" sz="2000" b="1" dirty="0"/>
              <a:t>conflicting goals</a:t>
            </a:r>
            <a:r>
              <a:rPr lang="en-US" sz="2000" dirty="0"/>
              <a:t> 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b="1" dirty="0">
                <a:solidFill>
                  <a:srgbClr val="EE0000"/>
                </a:solidFill>
              </a:rPr>
              <a:t>Adversarial search focuses on competitive environments where agents are “plotting against us.”</a:t>
            </a:r>
          </a:p>
        </p:txBody>
      </p:sp>
    </p:spTree>
    <p:extLst>
      <p:ext uri="{BB962C8B-B14F-4D97-AF65-F5344CB8AC3E}">
        <p14:creationId xmlns:p14="http://schemas.microsoft.com/office/powerpoint/2010/main" val="369173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6792D1B-7F4E-A7B4-35C7-63882E6B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F83FE2-F3A0-0C0F-8B37-7EB251D7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639194"/>
            <a:ext cx="3433621" cy="14944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b="1" dirty="0"/>
              <a:t>Adversarial search</a:t>
            </a:r>
            <a:endParaRPr lang="en-US" sz="5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48E0749-7FF5-B45D-6517-43947087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159" y="2594344"/>
            <a:ext cx="6701362" cy="362446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An agent trying to make intelligent decision but someone or another agent fighting against that goal.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Chess </a:t>
            </a:r>
          </a:p>
          <a:p>
            <a:r>
              <a:rPr lang="en-US" dirty="0"/>
              <a:t>Tic-tac-toe</a:t>
            </a:r>
          </a:p>
          <a:p>
            <a:pPr marL="0" indent="0">
              <a:buNone/>
            </a:pPr>
            <a:r>
              <a:rPr lang="en-US" dirty="0"/>
              <a:t>In such environments, one agent’s success is another agent’s failure.</a:t>
            </a:r>
          </a:p>
        </p:txBody>
      </p:sp>
    </p:spTree>
    <p:extLst>
      <p:ext uri="{BB962C8B-B14F-4D97-AF65-F5344CB8AC3E}">
        <p14:creationId xmlns:p14="http://schemas.microsoft.com/office/powerpoint/2010/main" val="220825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BB966B6-F666-36A6-3E67-0E067622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3C3C2B-1F46-EFF3-8796-061EB0608F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0" y="179023"/>
            <a:ext cx="6556744" cy="15413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000" b="1" dirty="0">
                <a:solidFill>
                  <a:srgbClr val="EE0000"/>
                </a:solidFill>
              </a:rPr>
              <a:t>Adversarial search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3F0BE92C-20FC-3850-9E48-FB86886312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048001" y="1396998"/>
          <a:ext cx="5032743" cy="4309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758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167758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167758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14363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14363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14363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6" name="Multiplication Sign 5">
            <a:extLst>
              <a:ext uri="{FF2B5EF4-FFF2-40B4-BE49-F238E27FC236}">
                <a16:creationId xmlns="" xmlns:a16="http://schemas.microsoft.com/office/drawing/2014/main" id="{112A4840-DAC1-E813-EE94-FF4BECC0259F}"/>
              </a:ext>
            </a:extLst>
          </p:cNvPr>
          <p:cNvSpPr/>
          <p:nvPr/>
        </p:nvSpPr>
        <p:spPr>
          <a:xfrm>
            <a:off x="5075272" y="3165252"/>
            <a:ext cx="978196" cy="77263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="" xmlns:a16="http://schemas.microsoft.com/office/drawing/2014/main" id="{5BAD9C4E-9358-F952-9A23-A2E069D4DFCC}"/>
              </a:ext>
            </a:extLst>
          </p:cNvPr>
          <p:cNvSpPr/>
          <p:nvPr/>
        </p:nvSpPr>
        <p:spPr>
          <a:xfrm>
            <a:off x="5287925" y="1956390"/>
            <a:ext cx="552893" cy="531628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="" xmlns:a16="http://schemas.microsoft.com/office/drawing/2014/main" id="{0BBC2E08-0C0E-F3C2-24DD-72D326DE57C8}"/>
              </a:ext>
            </a:extLst>
          </p:cNvPr>
          <p:cNvSpPr/>
          <p:nvPr/>
        </p:nvSpPr>
        <p:spPr>
          <a:xfrm>
            <a:off x="3565451" y="4615409"/>
            <a:ext cx="552893" cy="531628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="" xmlns:a16="http://schemas.microsoft.com/office/drawing/2014/main" id="{17A2D1BA-5019-B0A8-2EAA-20B1B003541B}"/>
              </a:ext>
            </a:extLst>
          </p:cNvPr>
          <p:cNvSpPr/>
          <p:nvPr/>
        </p:nvSpPr>
        <p:spPr>
          <a:xfrm>
            <a:off x="3565451" y="3285754"/>
            <a:ext cx="552893" cy="531628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ication Sign 9">
            <a:extLst>
              <a:ext uri="{FF2B5EF4-FFF2-40B4-BE49-F238E27FC236}">
                <a16:creationId xmlns="" xmlns:a16="http://schemas.microsoft.com/office/drawing/2014/main" id="{D7637068-3424-0B6E-DF57-A2C6FECF9183}"/>
              </a:ext>
            </a:extLst>
          </p:cNvPr>
          <p:cNvSpPr/>
          <p:nvPr/>
        </p:nvSpPr>
        <p:spPr>
          <a:xfrm>
            <a:off x="6581551" y="1772387"/>
            <a:ext cx="978196" cy="77263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="" xmlns:a16="http://schemas.microsoft.com/office/drawing/2014/main" id="{25DD67E9-5FCD-9F68-8C38-2C48D3CFA615}"/>
              </a:ext>
            </a:extLst>
          </p:cNvPr>
          <p:cNvSpPr/>
          <p:nvPr/>
        </p:nvSpPr>
        <p:spPr>
          <a:xfrm>
            <a:off x="6655979" y="3042684"/>
            <a:ext cx="978196" cy="77263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ultiplication Sign 11">
            <a:extLst>
              <a:ext uri="{FF2B5EF4-FFF2-40B4-BE49-F238E27FC236}">
                <a16:creationId xmlns="" xmlns:a16="http://schemas.microsoft.com/office/drawing/2014/main" id="{FB295471-8F5D-5128-7FDF-776927AD26B5}"/>
              </a:ext>
            </a:extLst>
          </p:cNvPr>
          <p:cNvSpPr/>
          <p:nvPr/>
        </p:nvSpPr>
        <p:spPr>
          <a:xfrm>
            <a:off x="6655979" y="4492841"/>
            <a:ext cx="978196" cy="77263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0C9A5692-3536-0774-2ED3-EE72CD6A1B00}"/>
              </a:ext>
            </a:extLst>
          </p:cNvPr>
          <p:cNvSpPr txBox="1"/>
          <p:nvPr/>
        </p:nvSpPr>
        <p:spPr>
          <a:xfrm>
            <a:off x="3565450" y="524986"/>
            <a:ext cx="47208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Tic-tac-toe Game</a:t>
            </a:r>
          </a:p>
        </p:txBody>
      </p:sp>
    </p:spTree>
    <p:extLst>
      <p:ext uri="{BB962C8B-B14F-4D97-AF65-F5344CB8AC3E}">
        <p14:creationId xmlns:p14="http://schemas.microsoft.com/office/powerpoint/2010/main" val="125690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A0CD91-4BAD-DBA1-E738-7B78F31D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01DA76-0392-7EFC-C154-285D06B0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639194"/>
            <a:ext cx="5361659" cy="118960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b="1" dirty="0"/>
              <a:t>Types of Games</a:t>
            </a:r>
            <a:br>
              <a:rPr lang="en-US" sz="6000" b="1" dirty="0"/>
            </a:br>
            <a:endParaRPr lang="en-US" sz="5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5813CB-A45A-26D4-C75A-2352B559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159" y="1460206"/>
            <a:ext cx="7275520" cy="475860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/>
              <a:t>We focus on:</a:t>
            </a:r>
          </a:p>
          <a:p>
            <a:pPr lvl="1"/>
            <a:r>
              <a:rPr lang="en-US" dirty="0"/>
              <a:t>Two-player </a:t>
            </a:r>
          </a:p>
          <a:p>
            <a:pPr lvl="1"/>
            <a:r>
              <a:rPr lang="en-US" dirty="0"/>
              <a:t>Zero-sum </a:t>
            </a:r>
          </a:p>
          <a:p>
            <a:pPr lvl="1"/>
            <a:r>
              <a:rPr lang="en-US" dirty="0"/>
              <a:t>Deterministic </a:t>
            </a:r>
          </a:p>
          <a:p>
            <a:pPr lvl="1"/>
            <a:r>
              <a:rPr lang="en-US" dirty="0"/>
              <a:t>Turn-taking </a:t>
            </a:r>
          </a:p>
          <a:p>
            <a:pPr lvl="1"/>
            <a:r>
              <a:rPr lang="en-US" dirty="0"/>
              <a:t>Perfect information</a:t>
            </a:r>
          </a:p>
          <a:p>
            <a:pPr marL="0" indent="0">
              <a:buNone/>
            </a:pPr>
            <a:r>
              <a:rPr lang="en-US" dirty="0"/>
              <a:t>These assumptions allow us to apply the minimax algorithm effectively to compute optimal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D3120F-37C8-2ADF-A9F6-E1EE2EEA8415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5CE3BA4-5CB5-BFF6-338A-44FCD278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9E1ED0-D9A9-283C-7674-68930883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7275519" cy="11896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/>
              <a:t>MINIMAX ALGORITHM</a:t>
            </a:r>
            <a:endParaRPr lang="en-US" sz="5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4970EDA-C20D-5FEC-19A0-71CBC8DFE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159" y="1460206"/>
            <a:ext cx="8480543" cy="49405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Computers do not understand win, lose or draw.</a:t>
            </a:r>
          </a:p>
          <a:p>
            <a:r>
              <a:rPr lang="en-US" dirty="0"/>
              <a:t>We need to translate to something computers can understand.</a:t>
            </a:r>
          </a:p>
          <a:p>
            <a:pPr lvl="1"/>
            <a:r>
              <a:rPr lang="en-US" dirty="0"/>
              <a:t>Computers understand bigger, smaller and even equal.</a:t>
            </a:r>
          </a:p>
          <a:p>
            <a:pPr lvl="1"/>
            <a:endParaRPr lang="en-US" dirty="0"/>
          </a:p>
          <a:p>
            <a:r>
              <a:rPr lang="en-US" dirty="0"/>
              <a:t>Minimax assumes:</a:t>
            </a:r>
          </a:p>
          <a:p>
            <a:pPr lvl="1"/>
            <a:r>
              <a:rPr lang="en-US" b="1" dirty="0"/>
              <a:t>MAX (Player 1)</a:t>
            </a:r>
            <a:r>
              <a:rPr lang="en-US" dirty="0"/>
              <a:t> → wants to maximize score </a:t>
            </a:r>
          </a:p>
          <a:p>
            <a:pPr lvl="1"/>
            <a:r>
              <a:rPr lang="en-US" b="1" dirty="0"/>
              <a:t>MIN (Player 2)</a:t>
            </a:r>
            <a:r>
              <a:rPr lang="en-US" dirty="0"/>
              <a:t> → wants to minimize score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B5CA24-DF79-A47B-E6F5-AF240BC6377B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FA9FFEB-C2BA-2186-4B62-608115DEA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3FF150-EE40-2113-58CC-3FBA38EB85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95684" y="6478773"/>
            <a:ext cx="2360428" cy="30480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000" b="1" dirty="0">
                <a:solidFill>
                  <a:srgbClr val="EE0000"/>
                </a:solidFill>
              </a:rPr>
              <a:t>Adversarial search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D01DAEE0-338F-61DE-7538-516D2667CBC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72091" y="1395809"/>
          <a:ext cx="2799906" cy="2601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3302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933302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933302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86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86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8671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74972CF-41E1-2F5C-0F01-ED4643DE4F86}"/>
              </a:ext>
            </a:extLst>
          </p:cNvPr>
          <p:cNvSpPr txBox="1"/>
          <p:nvPr/>
        </p:nvSpPr>
        <p:spPr>
          <a:xfrm>
            <a:off x="1614377" y="458385"/>
            <a:ext cx="460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Concept of Minimax</a:t>
            </a:r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BA82BF21-A6FB-797F-D3B5-B421BCADD342}"/>
              </a:ext>
            </a:extLst>
          </p:cNvPr>
          <p:cNvGrpSpPr/>
          <p:nvPr/>
        </p:nvGrpSpPr>
        <p:grpSpPr>
          <a:xfrm>
            <a:off x="1984744" y="1414421"/>
            <a:ext cx="2622701" cy="2483729"/>
            <a:chOff x="460743" y="1464038"/>
            <a:chExt cx="2622701" cy="2483729"/>
          </a:xfrm>
        </p:grpSpPr>
        <p:sp>
          <p:nvSpPr>
            <p:cNvPr id="6" name="Multiplication Sign 5">
              <a:extLst>
                <a:ext uri="{FF2B5EF4-FFF2-40B4-BE49-F238E27FC236}">
                  <a16:creationId xmlns="" xmlns:a16="http://schemas.microsoft.com/office/drawing/2014/main" id="{87313CC7-2AC9-D605-D070-5607E07A4EE8}"/>
                </a:ext>
              </a:extLst>
            </p:cNvPr>
            <p:cNvSpPr/>
            <p:nvPr/>
          </p:nvSpPr>
          <p:spPr>
            <a:xfrm>
              <a:off x="1144772" y="1478967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="" xmlns:a16="http://schemas.microsoft.com/office/drawing/2014/main" id="{35DB4318-F503-C67A-A870-1A831652E2E5}"/>
                </a:ext>
              </a:extLst>
            </p:cNvPr>
            <p:cNvSpPr/>
            <p:nvPr/>
          </p:nvSpPr>
          <p:spPr>
            <a:xfrm>
              <a:off x="460743" y="1513371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="" xmlns:a16="http://schemas.microsoft.com/office/drawing/2014/main" id="{C684D5AD-0C8F-62AF-B439-7D95E3840C97}"/>
                </a:ext>
              </a:extLst>
            </p:cNvPr>
            <p:cNvSpPr/>
            <p:nvPr/>
          </p:nvSpPr>
          <p:spPr>
            <a:xfrm>
              <a:off x="474919" y="3308499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="" xmlns:a16="http://schemas.microsoft.com/office/drawing/2014/main" id="{028662D4-5105-83AE-169E-3AAEC6118AC7}"/>
                </a:ext>
              </a:extLst>
            </p:cNvPr>
            <p:cNvSpPr/>
            <p:nvPr/>
          </p:nvSpPr>
          <p:spPr>
            <a:xfrm>
              <a:off x="460743" y="2438102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Multiplication Sign 9">
              <a:extLst>
                <a:ext uri="{FF2B5EF4-FFF2-40B4-BE49-F238E27FC236}">
                  <a16:creationId xmlns="" xmlns:a16="http://schemas.microsoft.com/office/drawing/2014/main" id="{8604F810-1755-4D2F-CAE7-73FE526D414A}"/>
                </a:ext>
              </a:extLst>
            </p:cNvPr>
            <p:cNvSpPr/>
            <p:nvPr/>
          </p:nvSpPr>
          <p:spPr>
            <a:xfrm>
              <a:off x="2027275" y="1464038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Multiplication Sign 10">
              <a:extLst>
                <a:ext uri="{FF2B5EF4-FFF2-40B4-BE49-F238E27FC236}">
                  <a16:creationId xmlns="" xmlns:a16="http://schemas.microsoft.com/office/drawing/2014/main" id="{BB35B771-A1A4-8A2A-0735-539AC6A73FBA}"/>
                </a:ext>
              </a:extLst>
            </p:cNvPr>
            <p:cNvSpPr/>
            <p:nvPr/>
          </p:nvSpPr>
          <p:spPr>
            <a:xfrm>
              <a:off x="1151860" y="3175134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Multiplication Sign 11">
              <a:extLst>
                <a:ext uri="{FF2B5EF4-FFF2-40B4-BE49-F238E27FC236}">
                  <a16:creationId xmlns="" xmlns:a16="http://schemas.microsoft.com/office/drawing/2014/main" id="{38D6C538-B4CF-92C0-1173-2682EA17FD56}"/>
                </a:ext>
              </a:extLst>
            </p:cNvPr>
            <p:cNvSpPr/>
            <p:nvPr/>
          </p:nvSpPr>
          <p:spPr>
            <a:xfrm>
              <a:off x="2105248" y="3153872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="" xmlns:a16="http://schemas.microsoft.com/office/drawing/2014/main" id="{221E841C-C164-BFF2-1EEE-AEFBE6745EBE}"/>
                </a:ext>
              </a:extLst>
            </p:cNvPr>
            <p:cNvSpPr/>
            <p:nvPr/>
          </p:nvSpPr>
          <p:spPr>
            <a:xfrm>
              <a:off x="1410588" y="2447556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="" xmlns:a16="http://schemas.microsoft.com/office/drawing/2014/main" id="{54888FA9-6EF5-3EA7-AFDE-4D35E7FB14F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859082" y="1430794"/>
          <a:ext cx="2718393" cy="25298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613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90613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90613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8432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8432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8432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="" xmlns:a16="http://schemas.microsoft.com/office/drawing/2014/main" id="{F1645006-28B5-493F-2675-48871F0E788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860997" y="1434342"/>
          <a:ext cx="2718393" cy="25298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613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90613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90613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8432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8432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8432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="" xmlns:a16="http://schemas.microsoft.com/office/drawing/2014/main" id="{27F10986-FD42-4342-9136-9EA9C5AD27D2}"/>
              </a:ext>
            </a:extLst>
          </p:cNvPr>
          <p:cNvGrpSpPr/>
          <p:nvPr/>
        </p:nvGrpSpPr>
        <p:grpSpPr>
          <a:xfrm>
            <a:off x="4855519" y="1478967"/>
            <a:ext cx="2810540" cy="2419189"/>
            <a:chOff x="3331519" y="1478966"/>
            <a:chExt cx="2810540" cy="2419189"/>
          </a:xfrm>
        </p:grpSpPr>
        <p:grpSp>
          <p:nvGrpSpPr>
            <p:cNvPr id="37" name="Group 36">
              <a:extLst>
                <a:ext uri="{FF2B5EF4-FFF2-40B4-BE49-F238E27FC236}">
                  <a16:creationId xmlns="" xmlns:a16="http://schemas.microsoft.com/office/drawing/2014/main" id="{C014F981-B456-40C0-58AB-2DAA9AF2FFFC}"/>
                </a:ext>
              </a:extLst>
            </p:cNvPr>
            <p:cNvGrpSpPr/>
            <p:nvPr/>
          </p:nvGrpSpPr>
          <p:grpSpPr>
            <a:xfrm>
              <a:off x="3331519" y="1478966"/>
              <a:ext cx="2810540" cy="2419189"/>
              <a:chOff x="3331519" y="1478966"/>
              <a:chExt cx="2810540" cy="2419189"/>
            </a:xfrm>
          </p:grpSpPr>
          <p:sp>
            <p:nvSpPr>
              <p:cNvPr id="17" name="Multiplication Sign 16">
                <a:extLst>
                  <a:ext uri="{FF2B5EF4-FFF2-40B4-BE49-F238E27FC236}">
                    <a16:creationId xmlns="" xmlns:a16="http://schemas.microsoft.com/office/drawing/2014/main" id="{E5D7972F-7673-E9DD-762B-3B2B2CA79E07}"/>
                  </a:ext>
                </a:extLst>
              </p:cNvPr>
              <p:cNvSpPr/>
              <p:nvPr/>
            </p:nvSpPr>
            <p:spPr>
              <a:xfrm>
                <a:off x="3331519" y="1478966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Multiplication Sign 17">
                <a:extLst>
                  <a:ext uri="{FF2B5EF4-FFF2-40B4-BE49-F238E27FC236}">
                    <a16:creationId xmlns="" xmlns:a16="http://schemas.microsoft.com/office/drawing/2014/main" id="{29148278-2A61-0D22-7253-D31FA336CFC7}"/>
                  </a:ext>
                </a:extLst>
              </p:cNvPr>
              <p:cNvSpPr/>
              <p:nvPr/>
            </p:nvSpPr>
            <p:spPr>
              <a:xfrm>
                <a:off x="5075278" y="1513371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Multiplication Sign 18">
                <a:extLst>
                  <a:ext uri="{FF2B5EF4-FFF2-40B4-BE49-F238E27FC236}">
                    <a16:creationId xmlns="" xmlns:a16="http://schemas.microsoft.com/office/drawing/2014/main" id="{732566AD-6FCD-C429-416E-B308E3F86E41}"/>
                  </a:ext>
                </a:extLst>
              </p:cNvPr>
              <p:cNvSpPr/>
              <p:nvPr/>
            </p:nvSpPr>
            <p:spPr>
              <a:xfrm>
                <a:off x="5163863" y="2356430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Multiplication Sign 19">
                <a:extLst>
                  <a:ext uri="{FF2B5EF4-FFF2-40B4-BE49-F238E27FC236}">
                    <a16:creationId xmlns="" xmlns:a16="http://schemas.microsoft.com/office/drawing/2014/main" id="{AEF927EF-8053-35E6-3217-6289B977E05A}"/>
                  </a:ext>
                </a:extLst>
              </p:cNvPr>
              <p:cNvSpPr/>
              <p:nvPr/>
            </p:nvSpPr>
            <p:spPr>
              <a:xfrm>
                <a:off x="4205175" y="3111345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Multiplication Sign 20">
                <a:extLst>
                  <a:ext uri="{FF2B5EF4-FFF2-40B4-BE49-F238E27FC236}">
                    <a16:creationId xmlns="" xmlns:a16="http://schemas.microsoft.com/office/drawing/2014/main" id="{EA165437-3F5D-282B-BD64-1B907A16E1CA}"/>
                  </a:ext>
                </a:extLst>
              </p:cNvPr>
              <p:cNvSpPr/>
              <p:nvPr/>
            </p:nvSpPr>
            <p:spPr>
              <a:xfrm>
                <a:off x="3338615" y="3125522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lowchart: Connector 21">
                <a:extLst>
                  <a:ext uri="{FF2B5EF4-FFF2-40B4-BE49-F238E27FC236}">
                    <a16:creationId xmlns="" xmlns:a16="http://schemas.microsoft.com/office/drawing/2014/main" id="{F4384CD1-DE82-EC36-3390-CB40A22EC0B7}"/>
                  </a:ext>
                </a:extLst>
              </p:cNvPr>
              <p:cNvSpPr/>
              <p:nvPr/>
            </p:nvSpPr>
            <p:spPr>
              <a:xfrm>
                <a:off x="4396566" y="1599468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lowchart: Connector 22">
                <a:extLst>
                  <a:ext uri="{FF2B5EF4-FFF2-40B4-BE49-F238E27FC236}">
                    <a16:creationId xmlns="" xmlns:a16="http://schemas.microsoft.com/office/drawing/2014/main" id="{8EF560C2-B400-A890-4960-E9C85707F0F6}"/>
                  </a:ext>
                </a:extLst>
              </p:cNvPr>
              <p:cNvSpPr/>
              <p:nvPr/>
            </p:nvSpPr>
            <p:spPr>
              <a:xfrm>
                <a:off x="4416033" y="2468074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lowchart: Connector 23">
                <a:extLst>
                  <a:ext uri="{FF2B5EF4-FFF2-40B4-BE49-F238E27FC236}">
                    <a16:creationId xmlns="" xmlns:a16="http://schemas.microsoft.com/office/drawing/2014/main" id="{89A34F0D-05F3-3D96-348B-E726190F3AA8}"/>
                  </a:ext>
                </a:extLst>
              </p:cNvPr>
              <p:cNvSpPr/>
              <p:nvPr/>
            </p:nvSpPr>
            <p:spPr>
              <a:xfrm>
                <a:off x="3544170" y="2447556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lowchart: Connector 24">
              <a:extLst>
                <a:ext uri="{FF2B5EF4-FFF2-40B4-BE49-F238E27FC236}">
                  <a16:creationId xmlns="" xmlns:a16="http://schemas.microsoft.com/office/drawing/2014/main" id="{33FF3948-2ED2-F48A-D270-EE53CB25814A}"/>
                </a:ext>
              </a:extLst>
            </p:cNvPr>
            <p:cNvSpPr/>
            <p:nvPr/>
          </p:nvSpPr>
          <p:spPr>
            <a:xfrm>
              <a:off x="5341976" y="3274374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="" xmlns:a16="http://schemas.microsoft.com/office/drawing/2014/main" id="{1E5B77D4-FB6E-2406-BF30-B118C8AF3F15}"/>
              </a:ext>
            </a:extLst>
          </p:cNvPr>
          <p:cNvGrpSpPr/>
          <p:nvPr/>
        </p:nvGrpSpPr>
        <p:grpSpPr>
          <a:xfrm>
            <a:off x="7868082" y="1495482"/>
            <a:ext cx="2718393" cy="2423056"/>
            <a:chOff x="6344081" y="1495482"/>
            <a:chExt cx="2718393" cy="2423056"/>
          </a:xfrm>
        </p:grpSpPr>
        <p:sp>
          <p:nvSpPr>
            <p:cNvPr id="29" name="Multiplication Sign 28">
              <a:extLst>
                <a:ext uri="{FF2B5EF4-FFF2-40B4-BE49-F238E27FC236}">
                  <a16:creationId xmlns="" xmlns:a16="http://schemas.microsoft.com/office/drawing/2014/main" id="{EF2C4604-2054-55C1-D4DD-3007EA570640}"/>
                </a:ext>
              </a:extLst>
            </p:cNvPr>
            <p:cNvSpPr/>
            <p:nvPr/>
          </p:nvSpPr>
          <p:spPr>
            <a:xfrm>
              <a:off x="6344081" y="3125808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="" xmlns:a16="http://schemas.microsoft.com/office/drawing/2014/main" id="{78D30608-8A42-A07B-1F34-FA1AF5684E9C}"/>
                </a:ext>
              </a:extLst>
            </p:cNvPr>
            <p:cNvGrpSpPr/>
            <p:nvPr/>
          </p:nvGrpSpPr>
          <p:grpSpPr>
            <a:xfrm>
              <a:off x="6542568" y="1495482"/>
              <a:ext cx="2519906" cy="2423056"/>
              <a:chOff x="6542568" y="1495482"/>
              <a:chExt cx="2519906" cy="2423056"/>
            </a:xfrm>
          </p:grpSpPr>
          <p:sp>
            <p:nvSpPr>
              <p:cNvPr id="26" name="Flowchart: Connector 25">
                <a:extLst>
                  <a:ext uri="{FF2B5EF4-FFF2-40B4-BE49-F238E27FC236}">
                    <a16:creationId xmlns="" xmlns:a16="http://schemas.microsoft.com/office/drawing/2014/main" id="{43E594FF-E812-0696-D728-5C59BCE0B585}"/>
                  </a:ext>
                </a:extLst>
              </p:cNvPr>
              <p:cNvSpPr/>
              <p:nvPr/>
            </p:nvSpPr>
            <p:spPr>
              <a:xfrm>
                <a:off x="8343016" y="2356430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lowchart: Connector 26">
                <a:extLst>
                  <a:ext uri="{FF2B5EF4-FFF2-40B4-BE49-F238E27FC236}">
                    <a16:creationId xmlns="" xmlns:a16="http://schemas.microsoft.com/office/drawing/2014/main" id="{1E724D03-3080-68DC-E27D-877E31C64BB3}"/>
                  </a:ext>
                </a:extLst>
              </p:cNvPr>
              <p:cNvSpPr/>
              <p:nvPr/>
            </p:nvSpPr>
            <p:spPr>
              <a:xfrm>
                <a:off x="7419745" y="3246024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lowchart: Connector 27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6542568" y="1584540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7267352" y="2312132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8077193" y="1495482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Multiplication Sign 31">
                <a:extLst>
                  <a:ext uri="{FF2B5EF4-FFF2-40B4-BE49-F238E27FC236}">
                    <a16:creationId xmlns="" xmlns:a16="http://schemas.microsoft.com/office/drawing/2014/main" id="{40891487-7E92-A097-FBCC-19A474BAD546}"/>
                  </a:ext>
                </a:extLst>
              </p:cNvPr>
              <p:cNvSpPr/>
              <p:nvPr/>
            </p:nvSpPr>
            <p:spPr>
              <a:xfrm>
                <a:off x="8084278" y="3145905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6ED146A1-6435-5B31-AEDC-15296585BFF7}"/>
              </a:ext>
            </a:extLst>
          </p:cNvPr>
          <p:cNvSpPr/>
          <p:nvPr/>
        </p:nvSpPr>
        <p:spPr>
          <a:xfrm>
            <a:off x="2934588" y="4175051"/>
            <a:ext cx="694660" cy="6537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-1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8D7E1F47-CB8C-E075-A8A9-93E17DAA77A9}"/>
              </a:ext>
            </a:extLst>
          </p:cNvPr>
          <p:cNvSpPr/>
          <p:nvPr/>
        </p:nvSpPr>
        <p:spPr>
          <a:xfrm>
            <a:off x="5833715" y="4161416"/>
            <a:ext cx="694660" cy="6537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7A3D3A18-6899-02CF-2925-E7B0DF61AB5C}"/>
              </a:ext>
            </a:extLst>
          </p:cNvPr>
          <p:cNvSpPr/>
          <p:nvPr/>
        </p:nvSpPr>
        <p:spPr>
          <a:xfrm>
            <a:off x="8943745" y="4175051"/>
            <a:ext cx="694660" cy="65372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1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="" xmlns:a16="http://schemas.microsoft.com/office/drawing/2014/main" id="{055088FA-CD99-8189-C105-B2ABD5DE0CB0}"/>
              </a:ext>
            </a:extLst>
          </p:cNvPr>
          <p:cNvGrpSpPr/>
          <p:nvPr/>
        </p:nvGrpSpPr>
        <p:grpSpPr>
          <a:xfrm>
            <a:off x="2275365" y="4979008"/>
            <a:ext cx="7279756" cy="673086"/>
            <a:chOff x="751365" y="4979008"/>
            <a:chExt cx="7279756" cy="673086"/>
          </a:xfrm>
        </p:grpSpPr>
        <p:sp>
          <p:nvSpPr>
            <p:cNvPr id="42" name="Rectangle 41">
              <a:extLst>
                <a:ext uri="{FF2B5EF4-FFF2-40B4-BE49-F238E27FC236}">
                  <a16:creationId xmlns="" xmlns:a16="http://schemas.microsoft.com/office/drawing/2014/main" id="{A7A4D7A7-63AA-D57C-3172-54AD434717DB}"/>
                </a:ext>
              </a:extLst>
            </p:cNvPr>
            <p:cNvSpPr/>
            <p:nvPr/>
          </p:nvSpPr>
          <p:spPr>
            <a:xfrm>
              <a:off x="751365" y="4979008"/>
              <a:ext cx="7279756" cy="67308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Can represent the </a:t>
              </a:r>
              <a:r>
                <a:rPr lang="en-US" b="1" dirty="0"/>
                <a:t>max player which aims to maximize score</a:t>
              </a:r>
            </a:p>
          </p:txBody>
        </p:sp>
        <p:sp>
          <p:nvSpPr>
            <p:cNvPr id="41" name="Multiplication Sign 40">
              <a:extLst>
                <a:ext uri="{FF2B5EF4-FFF2-40B4-BE49-F238E27FC236}">
                  <a16:creationId xmlns="" xmlns:a16="http://schemas.microsoft.com/office/drawing/2014/main" id="{5C3EEF95-194E-4111-E03B-1FF68CC1E7B5}"/>
                </a:ext>
              </a:extLst>
            </p:cNvPr>
            <p:cNvSpPr/>
            <p:nvPr/>
          </p:nvSpPr>
          <p:spPr>
            <a:xfrm>
              <a:off x="985284" y="5156000"/>
              <a:ext cx="609602" cy="361926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="" xmlns:a16="http://schemas.microsoft.com/office/drawing/2014/main" id="{CAB846A1-EF3C-9DA5-D99B-3FD3C822C079}"/>
              </a:ext>
            </a:extLst>
          </p:cNvPr>
          <p:cNvSpPr/>
          <p:nvPr/>
        </p:nvSpPr>
        <p:spPr>
          <a:xfrm>
            <a:off x="2612072" y="5480338"/>
            <a:ext cx="6616989" cy="6730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 represent the </a:t>
            </a:r>
            <a:r>
              <a:rPr lang="en-US" b="1" dirty="0"/>
              <a:t>min player which aims to minimize score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="" xmlns:a16="http://schemas.microsoft.com/office/drawing/2014/main" id="{7D1FC9FA-1A32-B9AB-F1E9-90AE96EBC1A0}"/>
              </a:ext>
            </a:extLst>
          </p:cNvPr>
          <p:cNvSpPr/>
          <p:nvPr/>
        </p:nvSpPr>
        <p:spPr>
          <a:xfrm>
            <a:off x="2612072" y="5605698"/>
            <a:ext cx="446567" cy="446777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3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335E72B-14EF-376C-6859-AA26E8E73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D5D127-3729-5026-3692-16A928C8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7275519" cy="11896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/>
              <a:t>Concept of Minimax</a:t>
            </a:r>
            <a:endParaRPr lang="en-US" sz="57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88F916FD-69AB-8CBC-E913-539CFE6F5797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2248444"/>
          <a:ext cx="822960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0">
                  <a:extLst>
                    <a:ext uri="{9D8B030D-6E8A-4147-A177-3AD203B41FA5}">
                      <a16:colId xmlns="" xmlns:a16="http://schemas.microsoft.com/office/drawing/2014/main" val="2230588199"/>
                    </a:ext>
                  </a:extLst>
                </a:gridCol>
                <a:gridCol w="4114800">
                  <a:extLst>
                    <a:ext uri="{9D8B030D-6E8A-4147-A177-3AD203B41FA5}">
                      <a16:colId xmlns="" xmlns:a16="http://schemas.microsoft.com/office/drawing/2014/main" val="3733370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54599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 wins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+1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609668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904078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 wins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5617681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D91761A-AABA-4451-C9E1-CA981AE8048F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A541FA0-079D-B2C2-D535-6B45E85EB9B9}"/>
              </a:ext>
            </a:extLst>
          </p:cNvPr>
          <p:cNvSpPr txBox="1"/>
          <p:nvPr/>
        </p:nvSpPr>
        <p:spPr>
          <a:xfrm>
            <a:off x="2003160" y="1609409"/>
            <a:ext cx="57476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Utility Values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E31676B8-68FE-1018-515F-500949DDEE94}"/>
                  </a:ext>
                </a:extLst>
              </p:cNvPr>
              <p:cNvSpPr txBox="1"/>
              <p:nvPr/>
            </p:nvSpPr>
            <p:spPr>
              <a:xfrm>
                <a:off x="2445658" y="4467188"/>
                <a:ext cx="7453085" cy="1253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Mathematical Definition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𝑀𝐼𝑁𝐼𝑀𝐴𝑋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𝑈𝑇𝐼𝐿𝐼𝑇𝑌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terminal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max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func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𝐼𝑁𝐼𝑀𝐴𝑋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𝑖𝑙𝑑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turn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func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𝐼𝑁𝐼𝑀𝐴𝑋</m:t>
                                </m:r>
                                <m:d>
                                  <m:d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𝑖𝑙𝑑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turn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31676B8-68FE-1018-515F-500949DDE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658" y="4467188"/>
                <a:ext cx="7453085" cy="1253613"/>
              </a:xfrm>
              <a:prstGeom prst="rect">
                <a:avLst/>
              </a:prstGeom>
              <a:blipFill rotWithShape="0">
                <a:blip r:embed="rId2"/>
                <a:stretch>
                  <a:fillRect l="-654" t="-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812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AEF331-3701-D312-CE09-5F66D320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0CE015-C9D8-D2EC-BAB1-C54BDE63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7275519" cy="11896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1" dirty="0"/>
              <a:t>How Minimax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7EB26EC-0B37-D7AA-9EE5-F6857F2F3023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BE84C36-8D0B-ACEF-6B2C-BA684B113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230" y="1545771"/>
            <a:ext cx="8454570" cy="4580392"/>
          </a:xfrm>
        </p:spPr>
        <p:txBody>
          <a:bodyPr/>
          <a:lstStyle/>
          <a:p>
            <a:r>
              <a:rPr lang="en-US" dirty="0"/>
              <a:t>Expand the game tree to terminal states </a:t>
            </a:r>
          </a:p>
          <a:p>
            <a:r>
              <a:rPr lang="en-US" dirty="0"/>
              <a:t>Assign utility values </a:t>
            </a:r>
          </a:p>
          <a:p>
            <a:r>
              <a:rPr lang="en-US" dirty="0"/>
              <a:t>Backpropagate: </a:t>
            </a:r>
          </a:p>
          <a:p>
            <a:pPr lvl="1"/>
            <a:r>
              <a:rPr lang="en-US" dirty="0"/>
              <a:t>MIN → choose smallest </a:t>
            </a:r>
          </a:p>
          <a:p>
            <a:pPr lvl="1"/>
            <a:r>
              <a:rPr lang="en-US" dirty="0"/>
              <a:t>MAX → choose largest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5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01B7D83-695C-BAA8-8064-1D5A3F34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A92194-0419-B090-B94C-B3A98040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0" y="150101"/>
            <a:ext cx="8454570" cy="119972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Game Representation </a:t>
            </a:r>
            <a:br>
              <a:rPr lang="en-US" sz="4800" b="1" dirty="0"/>
            </a:br>
            <a:r>
              <a:rPr lang="en-US" sz="3200" b="1" dirty="0"/>
              <a:t>Parts needed to play a Game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17A351A-8535-DF04-E610-71D3705F664B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E0FAACD-1E11-DB91-3B27-15AE3F555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230" y="1545771"/>
            <a:ext cx="8454570" cy="4580392"/>
          </a:xfrm>
        </p:spPr>
        <p:txBody>
          <a:bodyPr>
            <a:normAutofit/>
          </a:bodyPr>
          <a:lstStyle/>
          <a:p>
            <a:r>
              <a:rPr lang="en-US" dirty="0"/>
              <a:t>A game is formally defined by:</a:t>
            </a:r>
          </a:p>
          <a:p>
            <a:pPr lvl="1"/>
            <a:r>
              <a:rPr lang="en-US" b="1" dirty="0"/>
              <a:t>Initial State (S₀)</a:t>
            </a:r>
            <a:r>
              <a:rPr lang="en-US" dirty="0"/>
              <a:t> → starting configuration </a:t>
            </a:r>
          </a:p>
          <a:p>
            <a:pPr lvl="1"/>
            <a:r>
              <a:rPr lang="en-US" b="1" dirty="0"/>
              <a:t>PLAYER(s)</a:t>
            </a:r>
            <a:r>
              <a:rPr lang="en-US" dirty="0"/>
              <a:t> → returns legal moves in state</a:t>
            </a:r>
          </a:p>
          <a:p>
            <a:pPr lvl="1"/>
            <a:r>
              <a:rPr lang="en-US" b="1" dirty="0"/>
              <a:t>ACTIONS(s)</a:t>
            </a:r>
            <a:r>
              <a:rPr lang="en-US" dirty="0"/>
              <a:t> → returns legal moves in state</a:t>
            </a:r>
          </a:p>
          <a:p>
            <a:pPr lvl="1"/>
            <a:r>
              <a:rPr lang="en-US" b="1" dirty="0"/>
              <a:t>RESULT(s, a)</a:t>
            </a:r>
            <a:r>
              <a:rPr lang="en-US" dirty="0"/>
              <a:t> → returns next state after actions taken in a state</a:t>
            </a:r>
          </a:p>
          <a:p>
            <a:pPr lvl="1"/>
            <a:r>
              <a:rPr lang="en-US" b="1" dirty="0"/>
              <a:t>TERMINAL(s)</a:t>
            </a:r>
            <a:r>
              <a:rPr lang="en-US" dirty="0"/>
              <a:t> → checks if states is a terminal state</a:t>
            </a:r>
          </a:p>
          <a:p>
            <a:pPr lvl="1"/>
            <a:r>
              <a:rPr lang="en-US" b="1" dirty="0"/>
              <a:t>UTILITY(s, p)</a:t>
            </a:r>
            <a:r>
              <a:rPr lang="en-US" dirty="0"/>
              <a:t> → final numerical value for terminal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78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996811D-D220-4762-15EB-62B799B7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C2E993-99FE-1516-59EF-5E7B2E7A46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2976" y="150813"/>
            <a:ext cx="8455025" cy="119856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Game Representation </a:t>
            </a:r>
            <a:br>
              <a:rPr lang="en-US" sz="4800" b="1" dirty="0"/>
            </a:br>
            <a:r>
              <a:rPr lang="en-US" sz="3200" b="1" dirty="0"/>
              <a:t>Parts needed to play a Game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808C599-35A4-FF11-3149-A18B71CC8F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27200" y="1311725"/>
            <a:ext cx="8686800" cy="5212446"/>
          </a:xfrm>
        </p:spPr>
        <p:txBody>
          <a:bodyPr>
            <a:normAutofit/>
          </a:bodyPr>
          <a:lstStyle/>
          <a:p>
            <a:r>
              <a:rPr lang="en-US" dirty="0"/>
              <a:t>A game is formally defined by:</a:t>
            </a:r>
          </a:p>
          <a:p>
            <a:pPr lvl="1"/>
            <a:r>
              <a:rPr lang="en-US" b="1" dirty="0"/>
              <a:t>Initial State (S₀)</a:t>
            </a:r>
            <a:r>
              <a:rPr lang="en-US" dirty="0"/>
              <a:t> → starting configuration </a:t>
            </a: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BF29C2B-D871-753C-8A47-E71AF6B0163F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F756F5A5-8F24-D5CA-F5BD-3B17B171FA1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869636" y="3226410"/>
          <a:ext cx="3235107" cy="27974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8369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1078369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1078369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93249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93249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93249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29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996811D-D220-4762-15EB-62B799B7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C2E993-99FE-1516-59EF-5E7B2E7A46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2976" y="150813"/>
            <a:ext cx="8455025" cy="119856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Game Representation </a:t>
            </a:r>
            <a:br>
              <a:rPr lang="en-US" sz="4800" b="1" dirty="0"/>
            </a:br>
            <a:r>
              <a:rPr lang="en-US" sz="3200" b="1" dirty="0"/>
              <a:t>Parts needed to play a Game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808C599-35A4-FF11-3149-A18B71CC8F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27200" y="1311725"/>
            <a:ext cx="8686800" cy="5212446"/>
          </a:xfrm>
        </p:spPr>
        <p:txBody>
          <a:bodyPr>
            <a:normAutofit/>
          </a:bodyPr>
          <a:lstStyle/>
          <a:p>
            <a:pPr lvl="1"/>
            <a:r>
              <a:rPr lang="en-US" b="1" dirty="0" smtClean="0"/>
              <a:t>Player(s</a:t>
            </a:r>
            <a:r>
              <a:rPr lang="en-US" b="1" dirty="0"/>
              <a:t>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Player(			)  = 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Player(			)  =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BF29C2B-D871-753C-8A47-E71AF6B0163F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06507" y="2045651"/>
          <a:ext cx="115663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546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7" name="Multiplication Sign 6">
            <a:extLst>
              <a:ext uri="{FF2B5EF4-FFF2-40B4-BE49-F238E27FC236}">
                <a16:creationId xmlns="" xmlns:a16="http://schemas.microsoft.com/office/drawing/2014/main" id="{1E382D27-4086-BBC6-334A-BFD6451FDB9E}"/>
              </a:ext>
            </a:extLst>
          </p:cNvPr>
          <p:cNvSpPr/>
          <p:nvPr/>
        </p:nvSpPr>
        <p:spPr>
          <a:xfrm>
            <a:off x="5005469" y="2201349"/>
            <a:ext cx="978196" cy="77263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46E6F851-F75D-5862-3A7A-BC9067F1974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06507" y="3739720"/>
          <a:ext cx="115663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546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9" name="Multiplication Sign 8">
            <a:extLst>
              <a:ext uri="{FF2B5EF4-FFF2-40B4-BE49-F238E27FC236}">
                <a16:creationId xmlns="" xmlns:a16="http://schemas.microsoft.com/office/drawing/2014/main" id="{5A576F3F-1C5A-8C11-5900-EAF0DFA4C2CF}"/>
              </a:ext>
            </a:extLst>
          </p:cNvPr>
          <p:cNvSpPr/>
          <p:nvPr/>
        </p:nvSpPr>
        <p:spPr>
          <a:xfrm>
            <a:off x="3678755" y="4100397"/>
            <a:ext cx="421530" cy="33865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="" xmlns:a16="http://schemas.microsoft.com/office/drawing/2014/main" id="{98C9F6EE-49DD-B7E0-C0A1-8F08ACD4F864}"/>
              </a:ext>
            </a:extLst>
          </p:cNvPr>
          <p:cNvSpPr/>
          <p:nvPr/>
        </p:nvSpPr>
        <p:spPr>
          <a:xfrm>
            <a:off x="5297172" y="3936662"/>
            <a:ext cx="552893" cy="531628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4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996811D-D220-4762-15EB-62B799B7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C2E993-99FE-1516-59EF-5E7B2E7A46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2976" y="150813"/>
            <a:ext cx="8455025" cy="119856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Game Representation </a:t>
            </a:r>
            <a:br>
              <a:rPr lang="en-US" sz="4800" b="1" dirty="0"/>
            </a:br>
            <a:r>
              <a:rPr lang="en-US" sz="3200" b="1" dirty="0"/>
              <a:t>Parts needed to play a Game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808C599-35A4-FF11-3149-A18B71CC8F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27200" y="1311725"/>
            <a:ext cx="8686800" cy="5212446"/>
          </a:xfrm>
        </p:spPr>
        <p:txBody>
          <a:bodyPr>
            <a:normAutofit/>
          </a:bodyPr>
          <a:lstStyle/>
          <a:p>
            <a:pPr lvl="1"/>
            <a:r>
              <a:rPr lang="en-US" b="1" dirty="0" smtClean="0"/>
              <a:t>Action(s</a:t>
            </a:r>
            <a:r>
              <a:rPr lang="en-US" b="1" dirty="0"/>
              <a:t>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Action(</a:t>
            </a:r>
            <a:r>
              <a:rPr lang="en-US" dirty="0"/>
              <a:t>			)  </a:t>
            </a:r>
            <a:r>
              <a:rPr lang="en-US" dirty="0" smtClean="0"/>
              <a:t>= {				,			} </a:t>
            </a: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 smtClean="0"/>
              <a:t>Result(s, a)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Result(</a:t>
            </a:r>
            <a:r>
              <a:rPr lang="en-US" dirty="0"/>
              <a:t>			</a:t>
            </a:r>
            <a:r>
              <a:rPr lang="en-US" dirty="0" smtClean="0"/>
              <a:t>,         		)  =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BF29C2B-D871-753C-8A47-E71AF6B0163F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266752" y="2032399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10" name="Flowchart: Connector 9">
            <a:extLst>
              <a:ext uri="{FF2B5EF4-FFF2-40B4-BE49-F238E27FC236}">
                <a16:creationId xmlns="" xmlns:a16="http://schemas.microsoft.com/office/drawing/2014/main" id="{98C9F6EE-49DD-B7E0-C0A1-8F08ACD4F864}"/>
              </a:ext>
            </a:extLst>
          </p:cNvPr>
          <p:cNvSpPr/>
          <p:nvPr/>
        </p:nvSpPr>
        <p:spPr>
          <a:xfrm>
            <a:off x="5434856" y="2110791"/>
            <a:ext cx="275368" cy="270903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3260903" y="1994136"/>
            <a:ext cx="1188506" cy="1127657"/>
            <a:chOff x="1782507" y="2015274"/>
            <a:chExt cx="1188506" cy="1127657"/>
          </a:xfrm>
        </p:grpSpPr>
        <p:sp>
          <p:nvSpPr>
            <p:cNvPr id="11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549483" y="2391935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112975" y="2015274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154755" y="2391935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1782507" y="2804278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2576285" y="2130758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2607068" y="2815661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1806616" y="2465784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8" name="Table 17">
            <a:extLst>
              <a:ext uri="{FF2B5EF4-FFF2-40B4-BE49-F238E27FC236}">
                <a16:creationId xmlns="" xmlns:a16="http://schemas.microsoft.com/office/drawing/2014/main" id="{46E6F851-F75D-5862-3A7A-BC9067F1974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401431" y="2077660"/>
          <a:ext cx="115663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546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="" xmlns:a16="http://schemas.microsoft.com/office/drawing/2014/main" id="{46E6F851-F75D-5862-3A7A-BC9067F1974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040169" y="2047460"/>
          <a:ext cx="1202682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0894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400894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400894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555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555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5552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20" name="Flowchart: Connector 19">
            <a:extLst>
              <a:ext uri="{FF2B5EF4-FFF2-40B4-BE49-F238E27FC236}">
                <a16:creationId xmlns="" xmlns:a16="http://schemas.microsoft.com/office/drawing/2014/main" id="{98C9F6EE-49DD-B7E0-C0A1-8F08ACD4F864}"/>
              </a:ext>
            </a:extLst>
          </p:cNvPr>
          <p:cNvSpPr/>
          <p:nvPr/>
        </p:nvSpPr>
        <p:spPr>
          <a:xfrm>
            <a:off x="7495569" y="2815662"/>
            <a:ext cx="275368" cy="270903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3306507" y="4660087"/>
            <a:ext cx="1188506" cy="1127657"/>
            <a:chOff x="1782507" y="2015274"/>
            <a:chExt cx="1188506" cy="1127657"/>
          </a:xfrm>
        </p:grpSpPr>
        <p:sp>
          <p:nvSpPr>
            <p:cNvPr id="22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549483" y="2391935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112975" y="2015274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154755" y="2391935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1782507" y="2804278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2576285" y="2130758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2607068" y="2815661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Connector 27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1806616" y="2465784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9" name="Table 28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299933" y="4682122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="" xmlns:a16="http://schemas.microsoft.com/office/drawing/2014/main" id="{46E6F851-F75D-5862-3A7A-BC9067F1974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84193" y="4660086"/>
          <a:ext cx="115663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546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31" name="Flowchart: Connector 30">
            <a:extLst>
              <a:ext uri="{FF2B5EF4-FFF2-40B4-BE49-F238E27FC236}">
                <a16:creationId xmlns="" xmlns:a16="http://schemas.microsoft.com/office/drawing/2014/main" id="{98C9F6EE-49DD-B7E0-C0A1-8F08ACD4F864}"/>
              </a:ext>
            </a:extLst>
          </p:cNvPr>
          <p:cNvSpPr/>
          <p:nvPr/>
        </p:nvSpPr>
        <p:spPr>
          <a:xfrm>
            <a:off x="4689356" y="4682123"/>
            <a:ext cx="275368" cy="270903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Table 31">
            <a:extLst>
              <a:ext uri="{FF2B5EF4-FFF2-40B4-BE49-F238E27FC236}">
                <a16:creationId xmlns="" xmlns:a16="http://schemas.microsoft.com/office/drawing/2014/main" id="{46E6F851-F75D-5862-3A7A-BC9067F1974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92664" y="4594162"/>
          <a:ext cx="1156638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546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5546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pSp>
        <p:nvGrpSpPr>
          <p:cNvPr id="42" name="Group 41"/>
          <p:cNvGrpSpPr/>
          <p:nvPr/>
        </p:nvGrpSpPr>
        <p:grpSpPr>
          <a:xfrm>
            <a:off x="6595617" y="4563786"/>
            <a:ext cx="1188506" cy="1127657"/>
            <a:chOff x="5071617" y="4563785"/>
            <a:chExt cx="1188506" cy="1127657"/>
          </a:xfrm>
        </p:grpSpPr>
        <p:grpSp>
          <p:nvGrpSpPr>
            <p:cNvPr id="33" name="Group 32"/>
            <p:cNvGrpSpPr/>
            <p:nvPr/>
          </p:nvGrpSpPr>
          <p:grpSpPr>
            <a:xfrm>
              <a:off x="5071617" y="4563785"/>
              <a:ext cx="1188506" cy="1127657"/>
              <a:chOff x="1782507" y="2015274"/>
              <a:chExt cx="1188506" cy="1127657"/>
            </a:xfrm>
          </p:grpSpPr>
          <p:sp>
            <p:nvSpPr>
              <p:cNvPr id="34" name="Multiplication Sign 8">
                <a:extLst>
                  <a:ext uri="{FF2B5EF4-FFF2-40B4-BE49-F238E27FC236}">
                    <a16:creationId xmlns="" xmlns:a16="http://schemas.microsoft.com/office/drawing/2014/main" id="{5A576F3F-1C5A-8C11-5900-EAF0DFA4C2CF}"/>
                  </a:ext>
                </a:extLst>
              </p:cNvPr>
              <p:cNvSpPr/>
              <p:nvPr/>
            </p:nvSpPr>
            <p:spPr>
              <a:xfrm>
                <a:off x="2549483" y="2391935"/>
                <a:ext cx="421530" cy="33865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Multiplication Sign 8">
                <a:extLst>
                  <a:ext uri="{FF2B5EF4-FFF2-40B4-BE49-F238E27FC236}">
                    <a16:creationId xmlns="" xmlns:a16="http://schemas.microsoft.com/office/drawing/2014/main" id="{5A576F3F-1C5A-8C11-5900-EAF0DFA4C2CF}"/>
                  </a:ext>
                </a:extLst>
              </p:cNvPr>
              <p:cNvSpPr/>
              <p:nvPr/>
            </p:nvSpPr>
            <p:spPr>
              <a:xfrm>
                <a:off x="2112975" y="2015274"/>
                <a:ext cx="421530" cy="33865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Multiplication Sign 8">
                <a:extLst>
                  <a:ext uri="{FF2B5EF4-FFF2-40B4-BE49-F238E27FC236}">
                    <a16:creationId xmlns="" xmlns:a16="http://schemas.microsoft.com/office/drawing/2014/main" id="{5A576F3F-1C5A-8C11-5900-EAF0DFA4C2CF}"/>
                  </a:ext>
                </a:extLst>
              </p:cNvPr>
              <p:cNvSpPr/>
              <p:nvPr/>
            </p:nvSpPr>
            <p:spPr>
              <a:xfrm>
                <a:off x="2154755" y="2391935"/>
                <a:ext cx="421530" cy="33865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Multiplication Sign 8">
                <a:extLst>
                  <a:ext uri="{FF2B5EF4-FFF2-40B4-BE49-F238E27FC236}">
                    <a16:creationId xmlns="" xmlns:a16="http://schemas.microsoft.com/office/drawing/2014/main" id="{5A576F3F-1C5A-8C11-5900-EAF0DFA4C2CF}"/>
                  </a:ext>
                </a:extLst>
              </p:cNvPr>
              <p:cNvSpPr/>
              <p:nvPr/>
            </p:nvSpPr>
            <p:spPr>
              <a:xfrm>
                <a:off x="1782507" y="2804278"/>
                <a:ext cx="421530" cy="33865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lowchart: Connector 37">
                <a:extLst>
                  <a:ext uri="{FF2B5EF4-FFF2-40B4-BE49-F238E27FC236}">
                    <a16:creationId xmlns="" xmlns:a16="http://schemas.microsoft.com/office/drawing/2014/main" id="{98C9F6EE-49DD-B7E0-C0A1-8F08ACD4F864}"/>
                  </a:ext>
                </a:extLst>
              </p:cNvPr>
              <p:cNvSpPr/>
              <p:nvPr/>
            </p:nvSpPr>
            <p:spPr>
              <a:xfrm>
                <a:off x="2576285" y="2130758"/>
                <a:ext cx="306359" cy="230969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lowchart: Connector 38">
                <a:extLst>
                  <a:ext uri="{FF2B5EF4-FFF2-40B4-BE49-F238E27FC236}">
                    <a16:creationId xmlns="" xmlns:a16="http://schemas.microsoft.com/office/drawing/2014/main" id="{98C9F6EE-49DD-B7E0-C0A1-8F08ACD4F864}"/>
                  </a:ext>
                </a:extLst>
              </p:cNvPr>
              <p:cNvSpPr/>
              <p:nvPr/>
            </p:nvSpPr>
            <p:spPr>
              <a:xfrm>
                <a:off x="2607068" y="2815661"/>
                <a:ext cx="306359" cy="230969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lowchart: Connector 39">
                <a:extLst>
                  <a:ext uri="{FF2B5EF4-FFF2-40B4-BE49-F238E27FC236}">
                    <a16:creationId xmlns="" xmlns:a16="http://schemas.microsoft.com/office/drawing/2014/main" id="{98C9F6EE-49DD-B7E0-C0A1-8F08ACD4F864}"/>
                  </a:ext>
                </a:extLst>
              </p:cNvPr>
              <p:cNvSpPr/>
              <p:nvPr/>
            </p:nvSpPr>
            <p:spPr>
              <a:xfrm>
                <a:off x="1806616" y="2465784"/>
                <a:ext cx="306359" cy="230969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Flowchart: Connector 40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5095726" y="4597659"/>
              <a:ext cx="275368" cy="270903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203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996811D-D220-4762-15EB-62B799B7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C2E993-99FE-1516-59EF-5E7B2E7A46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2976" y="150813"/>
            <a:ext cx="8455025" cy="119856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Game Representation </a:t>
            </a:r>
            <a:br>
              <a:rPr lang="en-US" sz="4800" b="1" dirty="0"/>
            </a:br>
            <a:r>
              <a:rPr lang="en-US" sz="3200" b="1" dirty="0"/>
              <a:t>Parts needed to play a Game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808C599-35A4-FF11-3149-A18B71CC8F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27200" y="1311725"/>
            <a:ext cx="8686800" cy="5212446"/>
          </a:xfrm>
        </p:spPr>
        <p:txBody>
          <a:bodyPr>
            <a:normAutofit/>
          </a:bodyPr>
          <a:lstStyle/>
          <a:p>
            <a:pPr lvl="1"/>
            <a:r>
              <a:rPr lang="en-US" b="1" dirty="0" smtClean="0"/>
              <a:t>Terminal(s</a:t>
            </a:r>
            <a:r>
              <a:rPr lang="en-US" b="1" dirty="0"/>
              <a:t>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Terminal(</a:t>
            </a:r>
            <a:r>
              <a:rPr lang="en-US" dirty="0"/>
              <a:t>			)  </a:t>
            </a:r>
            <a:r>
              <a:rPr lang="en-US" dirty="0" smtClean="0"/>
              <a:t>= False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Terminal</a:t>
            </a:r>
            <a:r>
              <a:rPr lang="en-US" dirty="0"/>
              <a:t>(			</a:t>
            </a:r>
            <a:r>
              <a:rPr lang="en-US" dirty="0" smtClean="0"/>
              <a:t>    )  </a:t>
            </a:r>
            <a:r>
              <a:rPr lang="en-US" dirty="0"/>
              <a:t>= </a:t>
            </a:r>
            <a:r>
              <a:rPr lang="en-US" dirty="0" smtClean="0"/>
              <a:t>True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BF29C2B-D871-753C-8A47-E71AF6B0163F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757082" y="2032399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3790983" y="1994136"/>
            <a:ext cx="1188506" cy="1127657"/>
            <a:chOff x="1782507" y="2015274"/>
            <a:chExt cx="1188506" cy="1127657"/>
          </a:xfrm>
        </p:grpSpPr>
        <p:sp>
          <p:nvSpPr>
            <p:cNvPr id="11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549483" y="2391935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112975" y="2015274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2154755" y="2391935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Multiplication Sign 8">
              <a:extLst>
                <a:ext uri="{FF2B5EF4-FFF2-40B4-BE49-F238E27FC236}">
                  <a16:creationId xmlns="" xmlns:a16="http://schemas.microsoft.com/office/drawing/2014/main" id="{5A576F3F-1C5A-8C11-5900-EAF0DFA4C2CF}"/>
                </a:ext>
              </a:extLst>
            </p:cNvPr>
            <p:cNvSpPr/>
            <p:nvPr/>
          </p:nvSpPr>
          <p:spPr>
            <a:xfrm>
              <a:off x="1782507" y="2804278"/>
              <a:ext cx="421530" cy="33865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Connector 14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2576285" y="2130758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2607068" y="2815661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="" xmlns:a16="http://schemas.microsoft.com/office/drawing/2014/main" id="{98C9F6EE-49DD-B7E0-C0A1-8F08ACD4F864}"/>
                </a:ext>
              </a:extLst>
            </p:cNvPr>
            <p:cNvSpPr/>
            <p:nvPr/>
          </p:nvSpPr>
          <p:spPr>
            <a:xfrm>
              <a:off x="1806616" y="2465784"/>
              <a:ext cx="306359" cy="230969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="" xmlns:a16="http://schemas.microsoft.com/office/drawing/2014/main" id="{46E6F851-F75D-5862-3A7A-BC9067F1974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690278" y="3558210"/>
          <a:ext cx="1146765" cy="11124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2255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2255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2255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708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708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708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31" name="Flowchart: Connector 30">
            <a:extLst>
              <a:ext uri="{FF2B5EF4-FFF2-40B4-BE49-F238E27FC236}">
                <a16:creationId xmlns="" xmlns:a16="http://schemas.microsoft.com/office/drawing/2014/main" id="{98C9F6EE-49DD-B7E0-C0A1-8F08ACD4F864}"/>
              </a:ext>
            </a:extLst>
          </p:cNvPr>
          <p:cNvSpPr/>
          <p:nvPr/>
        </p:nvSpPr>
        <p:spPr>
          <a:xfrm>
            <a:off x="3757081" y="3615462"/>
            <a:ext cx="275368" cy="270903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ultiplication Sign 8">
            <a:extLst>
              <a:ext uri="{FF2B5EF4-FFF2-40B4-BE49-F238E27FC236}">
                <a16:creationId xmlns="" xmlns:a16="http://schemas.microsoft.com/office/drawing/2014/main" id="{5A576F3F-1C5A-8C11-5900-EAF0DFA4C2CF}"/>
              </a:ext>
            </a:extLst>
          </p:cNvPr>
          <p:cNvSpPr/>
          <p:nvPr/>
        </p:nvSpPr>
        <p:spPr>
          <a:xfrm>
            <a:off x="4417599" y="4297644"/>
            <a:ext cx="421530" cy="33865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ultiplication Sign 8">
            <a:extLst>
              <a:ext uri="{FF2B5EF4-FFF2-40B4-BE49-F238E27FC236}">
                <a16:creationId xmlns="" xmlns:a16="http://schemas.microsoft.com/office/drawing/2014/main" id="{5A576F3F-1C5A-8C11-5900-EAF0DFA4C2CF}"/>
              </a:ext>
            </a:extLst>
          </p:cNvPr>
          <p:cNvSpPr/>
          <p:nvPr/>
        </p:nvSpPr>
        <p:spPr>
          <a:xfrm>
            <a:off x="4044505" y="3968421"/>
            <a:ext cx="421530" cy="33865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Multiplication Sign 8">
            <a:extLst>
              <a:ext uri="{FF2B5EF4-FFF2-40B4-BE49-F238E27FC236}">
                <a16:creationId xmlns="" xmlns:a16="http://schemas.microsoft.com/office/drawing/2014/main" id="{5A576F3F-1C5A-8C11-5900-EAF0DFA4C2CF}"/>
              </a:ext>
            </a:extLst>
          </p:cNvPr>
          <p:cNvSpPr/>
          <p:nvPr/>
        </p:nvSpPr>
        <p:spPr>
          <a:xfrm>
            <a:off x="4415512" y="3599560"/>
            <a:ext cx="421530" cy="33865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Connector 42">
            <a:extLst>
              <a:ext uri="{FF2B5EF4-FFF2-40B4-BE49-F238E27FC236}">
                <a16:creationId xmlns="" xmlns:a16="http://schemas.microsoft.com/office/drawing/2014/main" id="{98C9F6EE-49DD-B7E0-C0A1-8F08ACD4F864}"/>
              </a:ext>
            </a:extLst>
          </p:cNvPr>
          <p:cNvSpPr/>
          <p:nvPr/>
        </p:nvSpPr>
        <p:spPr>
          <a:xfrm>
            <a:off x="3751836" y="3976408"/>
            <a:ext cx="275368" cy="270903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Connector 43">
            <a:extLst>
              <a:ext uri="{FF2B5EF4-FFF2-40B4-BE49-F238E27FC236}">
                <a16:creationId xmlns="" xmlns:a16="http://schemas.microsoft.com/office/drawing/2014/main" id="{98C9F6EE-49DD-B7E0-C0A1-8F08ACD4F864}"/>
              </a:ext>
            </a:extLst>
          </p:cNvPr>
          <p:cNvSpPr/>
          <p:nvPr/>
        </p:nvSpPr>
        <p:spPr>
          <a:xfrm>
            <a:off x="4131276" y="4359952"/>
            <a:ext cx="275368" cy="270903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Multiplication Sign 8">
            <a:extLst>
              <a:ext uri="{FF2B5EF4-FFF2-40B4-BE49-F238E27FC236}">
                <a16:creationId xmlns="" xmlns:a16="http://schemas.microsoft.com/office/drawing/2014/main" id="{5A576F3F-1C5A-8C11-5900-EAF0DFA4C2CF}"/>
              </a:ext>
            </a:extLst>
          </p:cNvPr>
          <p:cNvSpPr/>
          <p:nvPr/>
        </p:nvSpPr>
        <p:spPr>
          <a:xfrm>
            <a:off x="3636975" y="4326078"/>
            <a:ext cx="421530" cy="338653"/>
          </a:xfrm>
          <a:prstGeom prst="mathMultiply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2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996811D-D220-4762-15EB-62B799B7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C2E993-99FE-1516-59EF-5E7B2E7A46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2976" y="150813"/>
            <a:ext cx="8455025" cy="119856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Game Representation </a:t>
            </a:r>
            <a:br>
              <a:rPr lang="en-US" sz="4800" b="1" dirty="0"/>
            </a:br>
            <a:r>
              <a:rPr lang="en-US" sz="3200" b="1" dirty="0"/>
              <a:t>Parts needed to play a Game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808C599-35A4-FF11-3149-A18B71CC8F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27200" y="1311725"/>
            <a:ext cx="8686800" cy="5212446"/>
          </a:xfrm>
        </p:spPr>
        <p:txBody>
          <a:bodyPr>
            <a:normAutofit/>
          </a:bodyPr>
          <a:lstStyle/>
          <a:p>
            <a:pPr lvl="1"/>
            <a:r>
              <a:rPr lang="en-US" b="1" dirty="0" smtClean="0"/>
              <a:t>Utility(s</a:t>
            </a:r>
            <a:r>
              <a:rPr lang="en-US" b="1" dirty="0"/>
              <a:t>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    </a:t>
            </a:r>
            <a:r>
              <a:rPr lang="en-US" b="1" dirty="0" smtClean="0"/>
              <a:t>Utility </a:t>
            </a:r>
            <a:r>
              <a:rPr lang="en-US" dirty="0" smtClean="0"/>
              <a:t>(</a:t>
            </a:r>
            <a:r>
              <a:rPr lang="en-US" dirty="0"/>
              <a:t>			)  </a:t>
            </a:r>
            <a:r>
              <a:rPr lang="en-US" dirty="0" smtClean="0"/>
              <a:t>= 1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b="1" dirty="0" smtClean="0"/>
              <a:t>Utility</a:t>
            </a:r>
            <a:r>
              <a:rPr lang="en-US" dirty="0" smtClean="0"/>
              <a:t>( </a:t>
            </a:r>
            <a:r>
              <a:rPr lang="en-US" dirty="0"/>
              <a:t>			)  = </a:t>
            </a:r>
            <a:r>
              <a:rPr lang="en-US" dirty="0" smtClean="0"/>
              <a:t>-1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b="1" dirty="0"/>
              <a:t>Utility </a:t>
            </a:r>
            <a:r>
              <a:rPr lang="en-US" dirty="0"/>
              <a:t>(			)  = </a:t>
            </a:r>
            <a:r>
              <a:rPr lang="en-US" dirty="0" smtClean="0"/>
              <a:t>0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BF29C2B-D871-753C-8A47-E71AF6B0163F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757082" y="2032399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BA82BF21-A6FB-797F-D3B5-B421BCADD342}"/>
              </a:ext>
            </a:extLst>
          </p:cNvPr>
          <p:cNvGrpSpPr/>
          <p:nvPr/>
        </p:nvGrpSpPr>
        <p:grpSpPr>
          <a:xfrm>
            <a:off x="3512753" y="3323760"/>
            <a:ext cx="1064750" cy="988463"/>
            <a:chOff x="460743" y="1464038"/>
            <a:chExt cx="2622701" cy="2483729"/>
          </a:xfrm>
        </p:grpSpPr>
        <p:sp>
          <p:nvSpPr>
            <p:cNvPr id="23" name="Multiplication Sign 5">
              <a:extLst>
                <a:ext uri="{FF2B5EF4-FFF2-40B4-BE49-F238E27FC236}">
                  <a16:creationId xmlns="" xmlns:a16="http://schemas.microsoft.com/office/drawing/2014/main" id="{87313CC7-2AC9-D605-D070-5607E07A4EE8}"/>
                </a:ext>
              </a:extLst>
            </p:cNvPr>
            <p:cNvSpPr/>
            <p:nvPr/>
          </p:nvSpPr>
          <p:spPr>
            <a:xfrm>
              <a:off x="1144772" y="1478967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Connector 23">
              <a:extLst>
                <a:ext uri="{FF2B5EF4-FFF2-40B4-BE49-F238E27FC236}">
                  <a16:creationId xmlns="" xmlns:a16="http://schemas.microsoft.com/office/drawing/2014/main" id="{35DB4318-F503-C67A-A870-1A831652E2E5}"/>
                </a:ext>
              </a:extLst>
            </p:cNvPr>
            <p:cNvSpPr/>
            <p:nvPr/>
          </p:nvSpPr>
          <p:spPr>
            <a:xfrm>
              <a:off x="460743" y="1513371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lowchart: Connector 24">
              <a:extLst>
                <a:ext uri="{FF2B5EF4-FFF2-40B4-BE49-F238E27FC236}">
                  <a16:creationId xmlns="" xmlns:a16="http://schemas.microsoft.com/office/drawing/2014/main" id="{C684D5AD-0C8F-62AF-B439-7D95E3840C97}"/>
                </a:ext>
              </a:extLst>
            </p:cNvPr>
            <p:cNvSpPr/>
            <p:nvPr/>
          </p:nvSpPr>
          <p:spPr>
            <a:xfrm>
              <a:off x="474919" y="3308499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="" xmlns:a16="http://schemas.microsoft.com/office/drawing/2014/main" id="{028662D4-5105-83AE-169E-3AAEC6118AC7}"/>
                </a:ext>
              </a:extLst>
            </p:cNvPr>
            <p:cNvSpPr/>
            <p:nvPr/>
          </p:nvSpPr>
          <p:spPr>
            <a:xfrm>
              <a:off x="460743" y="2438102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Multiplication Sign 9">
              <a:extLst>
                <a:ext uri="{FF2B5EF4-FFF2-40B4-BE49-F238E27FC236}">
                  <a16:creationId xmlns="" xmlns:a16="http://schemas.microsoft.com/office/drawing/2014/main" id="{8604F810-1755-4D2F-CAE7-73FE526D414A}"/>
                </a:ext>
              </a:extLst>
            </p:cNvPr>
            <p:cNvSpPr/>
            <p:nvPr/>
          </p:nvSpPr>
          <p:spPr>
            <a:xfrm>
              <a:off x="2027275" y="1464038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Multiplication Sign 10">
              <a:extLst>
                <a:ext uri="{FF2B5EF4-FFF2-40B4-BE49-F238E27FC236}">
                  <a16:creationId xmlns="" xmlns:a16="http://schemas.microsoft.com/office/drawing/2014/main" id="{BB35B771-A1A4-8A2A-0735-539AC6A73FBA}"/>
                </a:ext>
              </a:extLst>
            </p:cNvPr>
            <p:cNvSpPr/>
            <p:nvPr/>
          </p:nvSpPr>
          <p:spPr>
            <a:xfrm>
              <a:off x="1151860" y="3175134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Multiplication Sign 11">
              <a:extLst>
                <a:ext uri="{FF2B5EF4-FFF2-40B4-BE49-F238E27FC236}">
                  <a16:creationId xmlns="" xmlns:a16="http://schemas.microsoft.com/office/drawing/2014/main" id="{38D6C538-B4CF-92C0-1173-2682EA17FD56}"/>
                </a:ext>
              </a:extLst>
            </p:cNvPr>
            <p:cNvSpPr/>
            <p:nvPr/>
          </p:nvSpPr>
          <p:spPr>
            <a:xfrm>
              <a:off x="2105248" y="3153872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="" xmlns:a16="http://schemas.microsoft.com/office/drawing/2014/main" id="{221E841C-C164-BFF2-1EEE-AEFBE6745EBE}"/>
                </a:ext>
              </a:extLst>
            </p:cNvPr>
            <p:cNvSpPr/>
            <p:nvPr/>
          </p:nvSpPr>
          <p:spPr>
            <a:xfrm>
              <a:off x="1410588" y="2447556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3" name="Table 32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405899" y="3258226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="" xmlns:a16="http://schemas.microsoft.com/office/drawing/2014/main" id="{1E5B77D4-FB6E-2406-BF30-B118C8AF3F15}"/>
              </a:ext>
            </a:extLst>
          </p:cNvPr>
          <p:cNvGrpSpPr/>
          <p:nvPr/>
        </p:nvGrpSpPr>
        <p:grpSpPr>
          <a:xfrm>
            <a:off x="3737215" y="2027263"/>
            <a:ext cx="1216191" cy="1095318"/>
            <a:chOff x="6344081" y="1495482"/>
            <a:chExt cx="2718393" cy="2423056"/>
          </a:xfrm>
        </p:grpSpPr>
        <p:sp>
          <p:nvSpPr>
            <p:cNvPr id="38" name="Multiplication Sign 28">
              <a:extLst>
                <a:ext uri="{FF2B5EF4-FFF2-40B4-BE49-F238E27FC236}">
                  <a16:creationId xmlns="" xmlns:a16="http://schemas.microsoft.com/office/drawing/2014/main" id="{EF2C4604-2054-55C1-D4DD-3007EA570640}"/>
                </a:ext>
              </a:extLst>
            </p:cNvPr>
            <p:cNvSpPr/>
            <p:nvPr/>
          </p:nvSpPr>
          <p:spPr>
            <a:xfrm>
              <a:off x="6344081" y="3125808"/>
              <a:ext cx="978196" cy="772633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="" xmlns:a16="http://schemas.microsoft.com/office/drawing/2014/main" id="{78D30608-8A42-A07B-1F34-FA1AF5684E9C}"/>
                </a:ext>
              </a:extLst>
            </p:cNvPr>
            <p:cNvGrpSpPr/>
            <p:nvPr/>
          </p:nvGrpSpPr>
          <p:grpSpPr>
            <a:xfrm>
              <a:off x="6542568" y="1495482"/>
              <a:ext cx="2519906" cy="2423056"/>
              <a:chOff x="6542568" y="1495482"/>
              <a:chExt cx="2519906" cy="2423056"/>
            </a:xfrm>
          </p:grpSpPr>
          <p:sp>
            <p:nvSpPr>
              <p:cNvPr id="40" name="Flowchart: Connector 39">
                <a:extLst>
                  <a:ext uri="{FF2B5EF4-FFF2-40B4-BE49-F238E27FC236}">
                    <a16:creationId xmlns="" xmlns:a16="http://schemas.microsoft.com/office/drawing/2014/main" id="{43E594FF-E812-0696-D728-5C59BCE0B585}"/>
                  </a:ext>
                </a:extLst>
              </p:cNvPr>
              <p:cNvSpPr/>
              <p:nvPr/>
            </p:nvSpPr>
            <p:spPr>
              <a:xfrm>
                <a:off x="8343016" y="2356430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lowchart: Connector 40">
                <a:extLst>
                  <a:ext uri="{FF2B5EF4-FFF2-40B4-BE49-F238E27FC236}">
                    <a16:creationId xmlns="" xmlns:a16="http://schemas.microsoft.com/office/drawing/2014/main" id="{1E724D03-3080-68DC-E27D-877E31C64BB3}"/>
                  </a:ext>
                </a:extLst>
              </p:cNvPr>
              <p:cNvSpPr/>
              <p:nvPr/>
            </p:nvSpPr>
            <p:spPr>
              <a:xfrm>
                <a:off x="7419745" y="3246024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lowchart: Connector 41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6542568" y="1584540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7267352" y="2312132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8077193" y="1495482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Multiplication Sign 31">
                <a:extLst>
                  <a:ext uri="{FF2B5EF4-FFF2-40B4-BE49-F238E27FC236}">
                    <a16:creationId xmlns="" xmlns:a16="http://schemas.microsoft.com/office/drawing/2014/main" id="{40891487-7E92-A097-FBCC-19A474BAD546}"/>
                  </a:ext>
                </a:extLst>
              </p:cNvPr>
              <p:cNvSpPr/>
              <p:nvPr/>
            </p:nvSpPr>
            <p:spPr>
              <a:xfrm>
                <a:off x="8084278" y="3145905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49" name="Table 48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443745" y="4650780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pSp>
        <p:nvGrpSpPr>
          <p:cNvPr id="50" name="Group 49">
            <a:extLst>
              <a:ext uri="{FF2B5EF4-FFF2-40B4-BE49-F238E27FC236}">
                <a16:creationId xmlns="" xmlns:a16="http://schemas.microsoft.com/office/drawing/2014/main" id="{27F10986-FD42-4342-9136-9EA9C5AD27D2}"/>
              </a:ext>
            </a:extLst>
          </p:cNvPr>
          <p:cNvGrpSpPr/>
          <p:nvPr/>
        </p:nvGrpSpPr>
        <p:grpSpPr>
          <a:xfrm>
            <a:off x="3390556" y="4587395"/>
            <a:ext cx="1303220" cy="1201470"/>
            <a:chOff x="3331519" y="1478966"/>
            <a:chExt cx="2810540" cy="2419189"/>
          </a:xfrm>
        </p:grpSpPr>
        <p:grpSp>
          <p:nvGrpSpPr>
            <p:cNvPr id="51" name="Group 50">
              <a:extLst>
                <a:ext uri="{FF2B5EF4-FFF2-40B4-BE49-F238E27FC236}">
                  <a16:creationId xmlns="" xmlns:a16="http://schemas.microsoft.com/office/drawing/2014/main" id="{C014F981-B456-40C0-58AB-2DAA9AF2FFFC}"/>
                </a:ext>
              </a:extLst>
            </p:cNvPr>
            <p:cNvGrpSpPr/>
            <p:nvPr/>
          </p:nvGrpSpPr>
          <p:grpSpPr>
            <a:xfrm>
              <a:off x="3331519" y="1478966"/>
              <a:ext cx="2810540" cy="2419189"/>
              <a:chOff x="3331519" y="1478966"/>
              <a:chExt cx="2810540" cy="2419189"/>
            </a:xfrm>
          </p:grpSpPr>
          <p:sp>
            <p:nvSpPr>
              <p:cNvPr id="53" name="Multiplication Sign 16">
                <a:extLst>
                  <a:ext uri="{FF2B5EF4-FFF2-40B4-BE49-F238E27FC236}">
                    <a16:creationId xmlns="" xmlns:a16="http://schemas.microsoft.com/office/drawing/2014/main" id="{E5D7972F-7673-E9DD-762B-3B2B2CA79E07}"/>
                  </a:ext>
                </a:extLst>
              </p:cNvPr>
              <p:cNvSpPr/>
              <p:nvPr/>
            </p:nvSpPr>
            <p:spPr>
              <a:xfrm>
                <a:off x="3331519" y="1478966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Multiplication Sign 17">
                <a:extLst>
                  <a:ext uri="{FF2B5EF4-FFF2-40B4-BE49-F238E27FC236}">
                    <a16:creationId xmlns="" xmlns:a16="http://schemas.microsoft.com/office/drawing/2014/main" id="{29148278-2A61-0D22-7253-D31FA336CFC7}"/>
                  </a:ext>
                </a:extLst>
              </p:cNvPr>
              <p:cNvSpPr/>
              <p:nvPr/>
            </p:nvSpPr>
            <p:spPr>
              <a:xfrm>
                <a:off x="5075278" y="1513371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Multiplication Sign 18">
                <a:extLst>
                  <a:ext uri="{FF2B5EF4-FFF2-40B4-BE49-F238E27FC236}">
                    <a16:creationId xmlns="" xmlns:a16="http://schemas.microsoft.com/office/drawing/2014/main" id="{732566AD-6FCD-C429-416E-B308E3F86E41}"/>
                  </a:ext>
                </a:extLst>
              </p:cNvPr>
              <p:cNvSpPr/>
              <p:nvPr/>
            </p:nvSpPr>
            <p:spPr>
              <a:xfrm>
                <a:off x="5163863" y="2356430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Multiplication Sign 19">
                <a:extLst>
                  <a:ext uri="{FF2B5EF4-FFF2-40B4-BE49-F238E27FC236}">
                    <a16:creationId xmlns="" xmlns:a16="http://schemas.microsoft.com/office/drawing/2014/main" id="{AEF927EF-8053-35E6-3217-6289B977E05A}"/>
                  </a:ext>
                </a:extLst>
              </p:cNvPr>
              <p:cNvSpPr/>
              <p:nvPr/>
            </p:nvSpPr>
            <p:spPr>
              <a:xfrm>
                <a:off x="4205175" y="3111345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Multiplication Sign 20">
                <a:extLst>
                  <a:ext uri="{FF2B5EF4-FFF2-40B4-BE49-F238E27FC236}">
                    <a16:creationId xmlns="" xmlns:a16="http://schemas.microsoft.com/office/drawing/2014/main" id="{EA165437-3F5D-282B-BD64-1B907A16E1CA}"/>
                  </a:ext>
                </a:extLst>
              </p:cNvPr>
              <p:cNvSpPr/>
              <p:nvPr/>
            </p:nvSpPr>
            <p:spPr>
              <a:xfrm>
                <a:off x="3338615" y="3125522"/>
                <a:ext cx="978196" cy="772633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lowchart: Connector 57">
                <a:extLst>
                  <a:ext uri="{FF2B5EF4-FFF2-40B4-BE49-F238E27FC236}">
                    <a16:creationId xmlns="" xmlns:a16="http://schemas.microsoft.com/office/drawing/2014/main" id="{F4384CD1-DE82-EC36-3390-CB40A22EC0B7}"/>
                  </a:ext>
                </a:extLst>
              </p:cNvPr>
              <p:cNvSpPr/>
              <p:nvPr/>
            </p:nvSpPr>
            <p:spPr>
              <a:xfrm>
                <a:off x="4396566" y="1599468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lowchart: Connector 58">
                <a:extLst>
                  <a:ext uri="{FF2B5EF4-FFF2-40B4-BE49-F238E27FC236}">
                    <a16:creationId xmlns="" xmlns:a16="http://schemas.microsoft.com/office/drawing/2014/main" id="{8EF560C2-B400-A890-4960-E9C85707F0F6}"/>
                  </a:ext>
                </a:extLst>
              </p:cNvPr>
              <p:cNvSpPr/>
              <p:nvPr/>
            </p:nvSpPr>
            <p:spPr>
              <a:xfrm>
                <a:off x="4416033" y="2468074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lowchart: Connector 59">
                <a:extLst>
                  <a:ext uri="{FF2B5EF4-FFF2-40B4-BE49-F238E27FC236}">
                    <a16:creationId xmlns="" xmlns:a16="http://schemas.microsoft.com/office/drawing/2014/main" id="{89A34F0D-05F3-3D96-348B-E726190F3AA8}"/>
                  </a:ext>
                </a:extLst>
              </p:cNvPr>
              <p:cNvSpPr/>
              <p:nvPr/>
            </p:nvSpPr>
            <p:spPr>
              <a:xfrm>
                <a:off x="3544170" y="2447556"/>
                <a:ext cx="552893" cy="531628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Flowchart: Connector 51">
              <a:extLst>
                <a:ext uri="{FF2B5EF4-FFF2-40B4-BE49-F238E27FC236}">
                  <a16:creationId xmlns="" xmlns:a16="http://schemas.microsoft.com/office/drawing/2014/main" id="{33FF3948-2ED2-F48A-D270-EE53CB25814A}"/>
                </a:ext>
              </a:extLst>
            </p:cNvPr>
            <p:cNvSpPr/>
            <p:nvPr/>
          </p:nvSpPr>
          <p:spPr>
            <a:xfrm>
              <a:off x="5341976" y="3274374"/>
              <a:ext cx="552893" cy="531628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649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996811D-D220-4762-15EB-62B799B7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ounded Rectangle 223"/>
          <p:cNvSpPr/>
          <p:nvPr/>
        </p:nvSpPr>
        <p:spPr>
          <a:xfrm>
            <a:off x="8221136" y="3855855"/>
            <a:ext cx="525103" cy="298314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0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888898" y="6426776"/>
            <a:ext cx="525103" cy="298314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0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7802942" y="6440419"/>
            <a:ext cx="525103" cy="298314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  <a:endParaRPr lang="en-US" sz="2000" b="1" dirty="0"/>
          </a:p>
        </p:txBody>
      </p:sp>
      <p:sp>
        <p:nvSpPr>
          <p:cNvPr id="207" name="Rounded Rectangle 206"/>
          <p:cNvSpPr/>
          <p:nvPr/>
        </p:nvSpPr>
        <p:spPr>
          <a:xfrm>
            <a:off x="5631913" y="3771498"/>
            <a:ext cx="517641" cy="314901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245977" y="3889514"/>
            <a:ext cx="517641" cy="314901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0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829527" y="6420150"/>
            <a:ext cx="525103" cy="298314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1</a:t>
            </a:r>
            <a:endParaRPr lang="en-US" sz="2000" b="1" dirty="0"/>
          </a:p>
        </p:txBody>
      </p:sp>
      <p:sp>
        <p:nvSpPr>
          <p:cNvPr id="203" name="Rounded Rectangle 202"/>
          <p:cNvSpPr/>
          <p:nvPr/>
        </p:nvSpPr>
        <p:spPr>
          <a:xfrm>
            <a:off x="2747007" y="6486939"/>
            <a:ext cx="532906" cy="289002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0</a:t>
            </a:r>
            <a:endParaRPr lang="en-US" sz="2000" b="1" dirty="0"/>
          </a:p>
        </p:txBody>
      </p:sp>
      <p:graphicFrame>
        <p:nvGraphicFramePr>
          <p:cNvPr id="77" name="Table 76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987590" y="2855055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C2E993-99FE-1516-59EF-5E7B2E7A463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2976" y="150813"/>
            <a:ext cx="8455025" cy="119856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>Where things get Interesting</a:t>
            </a:r>
            <a:endParaRPr lang="en-US" sz="32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808C599-35A4-FF11-3149-A18B71CC8FC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27200" y="1311725"/>
            <a:ext cx="8686800" cy="5212446"/>
          </a:xfrm>
        </p:spPr>
        <p:txBody>
          <a:bodyPr>
            <a:norm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BF29C2B-D871-753C-8A47-E71AF6B0163F}"/>
              </a:ext>
            </a:extLst>
          </p:cNvPr>
          <p:cNvSpPr txBox="1"/>
          <p:nvPr/>
        </p:nvSpPr>
        <p:spPr>
          <a:xfrm>
            <a:off x="1476796" y="-636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334091" y="1402920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sp>
        <p:nvSpPr>
          <p:cNvPr id="66" name="Multiplication Sign 31">
            <a:extLst>
              <a:ext uri="{FF2B5EF4-FFF2-40B4-BE49-F238E27FC236}">
                <a16:creationId xmlns="" xmlns:a16="http://schemas.microsoft.com/office/drawing/2014/main" id="{40891487-7E92-A097-FBCC-19A474BAD546}"/>
              </a:ext>
            </a:extLst>
          </p:cNvPr>
          <p:cNvSpPr/>
          <p:nvPr/>
        </p:nvSpPr>
        <p:spPr>
          <a:xfrm>
            <a:off x="3788459" y="3226129"/>
            <a:ext cx="437638" cy="349261"/>
          </a:xfrm>
          <a:prstGeom prst="mathMultiply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274277" y="1398259"/>
            <a:ext cx="1276844" cy="1022481"/>
            <a:chOff x="3750277" y="1398258"/>
            <a:chExt cx="1276844" cy="1022481"/>
          </a:xfrm>
        </p:grpSpPr>
        <p:sp>
          <p:nvSpPr>
            <p:cNvPr id="38" name="Multiplication Sign 28">
              <a:extLst>
                <a:ext uri="{FF2B5EF4-FFF2-40B4-BE49-F238E27FC236}">
                  <a16:creationId xmlns="" xmlns:a16="http://schemas.microsoft.com/office/drawing/2014/main" id="{EF2C4604-2054-55C1-D4DD-3007EA570640}"/>
                </a:ext>
              </a:extLst>
            </p:cNvPr>
            <p:cNvSpPr/>
            <p:nvPr/>
          </p:nvSpPr>
          <p:spPr>
            <a:xfrm>
              <a:off x="4187915" y="1781006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277435" y="1466958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Multiplication Sign 29">
              <a:extLst>
                <a:ext uri="{FF2B5EF4-FFF2-40B4-BE49-F238E27FC236}">
                  <a16:creationId xmlns="" xmlns:a16="http://schemas.microsoft.com/office/drawing/2014/main" id="{0D6F0B83-7A78-AC8D-430E-14973386B0B4}"/>
                </a:ext>
              </a:extLst>
            </p:cNvPr>
            <p:cNvSpPr/>
            <p:nvPr/>
          </p:nvSpPr>
          <p:spPr>
            <a:xfrm>
              <a:off x="4589483" y="1413321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Multiplication Sign 30">
              <a:extLst>
                <a:ext uri="{FF2B5EF4-FFF2-40B4-BE49-F238E27FC236}">
                  <a16:creationId xmlns="" xmlns:a16="http://schemas.microsoft.com/office/drawing/2014/main" id="{B7FBAD34-7BA0-4825-C452-2E129F422BE8}"/>
                </a:ext>
              </a:extLst>
            </p:cNvPr>
            <p:cNvSpPr/>
            <p:nvPr/>
          </p:nvSpPr>
          <p:spPr>
            <a:xfrm>
              <a:off x="3750277" y="1398258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lowchart: Connector 72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3890080" y="1824860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lowchart: Connector 75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684621" y="2180422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78" name="Table 77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340839" y="2803836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862745" y="2803836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80" name="Table 79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19018" y="4202530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856005" y="4202530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85472" y="4195433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896016" y="4195433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84" name="Table 83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940419" y="5611536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90078" y="5621184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835964" y="5631365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="" xmlns:a16="http://schemas.microsoft.com/office/drawing/2014/main" id="{EED994C2-5A60-94C8-08F5-0019AF8F0C8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27201" y="5650434"/>
          <a:ext cx="1166103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8701">
                  <a:extLst>
                    <a:ext uri="{9D8B030D-6E8A-4147-A177-3AD203B41FA5}">
                      <a16:colId xmlns="" xmlns:a16="http://schemas.microsoft.com/office/drawing/2014/main" val="3254875066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3920899145"/>
                    </a:ext>
                  </a:extLst>
                </a:gridCol>
                <a:gridCol w="388701">
                  <a:extLst>
                    <a:ext uri="{9D8B030D-6E8A-4147-A177-3AD203B41FA5}">
                      <a16:colId xmlns="" xmlns:a16="http://schemas.microsoft.com/office/drawing/2014/main" val="172837168"/>
                    </a:ext>
                  </a:extLst>
                </a:gridCol>
              </a:tblGrid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501480795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53677662"/>
                  </a:ext>
                </a:extLst>
              </a:tr>
              <a:tr h="3606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286755235"/>
                  </a:ext>
                </a:extLst>
              </a:tr>
            </a:tbl>
          </a:graphicData>
        </a:graphic>
      </p:graphicFrame>
      <p:grpSp>
        <p:nvGrpSpPr>
          <p:cNvPr id="88" name="Group 87"/>
          <p:cNvGrpSpPr/>
          <p:nvPr/>
        </p:nvGrpSpPr>
        <p:grpSpPr>
          <a:xfrm>
            <a:off x="2913183" y="2856664"/>
            <a:ext cx="1276844" cy="1022481"/>
            <a:chOff x="3750277" y="1398258"/>
            <a:chExt cx="1276844" cy="1022481"/>
          </a:xfrm>
        </p:grpSpPr>
        <p:sp>
          <p:nvSpPr>
            <p:cNvPr id="89" name="Multiplication Sign 28">
              <a:extLst>
                <a:ext uri="{FF2B5EF4-FFF2-40B4-BE49-F238E27FC236}">
                  <a16:creationId xmlns="" xmlns:a16="http://schemas.microsoft.com/office/drawing/2014/main" id="{EF2C4604-2054-55C1-D4DD-3007EA570640}"/>
                </a:ext>
              </a:extLst>
            </p:cNvPr>
            <p:cNvSpPr/>
            <p:nvPr/>
          </p:nvSpPr>
          <p:spPr>
            <a:xfrm>
              <a:off x="4187915" y="1781006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Flowchart: Connector 89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277435" y="1466958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Multiplication Sign 29">
              <a:extLst>
                <a:ext uri="{FF2B5EF4-FFF2-40B4-BE49-F238E27FC236}">
                  <a16:creationId xmlns="" xmlns:a16="http://schemas.microsoft.com/office/drawing/2014/main" id="{0D6F0B83-7A78-AC8D-430E-14973386B0B4}"/>
                </a:ext>
              </a:extLst>
            </p:cNvPr>
            <p:cNvSpPr/>
            <p:nvPr/>
          </p:nvSpPr>
          <p:spPr>
            <a:xfrm>
              <a:off x="4589483" y="1413321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Multiplication Sign 30">
              <a:extLst>
                <a:ext uri="{FF2B5EF4-FFF2-40B4-BE49-F238E27FC236}">
                  <a16:creationId xmlns="" xmlns:a16="http://schemas.microsoft.com/office/drawing/2014/main" id="{B7FBAD34-7BA0-4825-C452-2E129F422BE8}"/>
                </a:ext>
              </a:extLst>
            </p:cNvPr>
            <p:cNvSpPr/>
            <p:nvPr/>
          </p:nvSpPr>
          <p:spPr>
            <a:xfrm>
              <a:off x="3750277" y="1398258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Flowchart: Connector 92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3890080" y="1824860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lowchart: Connector 93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684621" y="2180422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248291" y="2809937"/>
            <a:ext cx="1276844" cy="1022481"/>
            <a:chOff x="3750277" y="1398258"/>
            <a:chExt cx="1276844" cy="1022481"/>
          </a:xfrm>
        </p:grpSpPr>
        <p:sp>
          <p:nvSpPr>
            <p:cNvPr id="96" name="Multiplication Sign 28">
              <a:extLst>
                <a:ext uri="{FF2B5EF4-FFF2-40B4-BE49-F238E27FC236}">
                  <a16:creationId xmlns="" xmlns:a16="http://schemas.microsoft.com/office/drawing/2014/main" id="{EF2C4604-2054-55C1-D4DD-3007EA570640}"/>
                </a:ext>
              </a:extLst>
            </p:cNvPr>
            <p:cNvSpPr/>
            <p:nvPr/>
          </p:nvSpPr>
          <p:spPr>
            <a:xfrm>
              <a:off x="4187915" y="1781006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lowchart: Connector 96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277435" y="1466958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Multiplication Sign 29">
              <a:extLst>
                <a:ext uri="{FF2B5EF4-FFF2-40B4-BE49-F238E27FC236}">
                  <a16:creationId xmlns="" xmlns:a16="http://schemas.microsoft.com/office/drawing/2014/main" id="{0D6F0B83-7A78-AC8D-430E-14973386B0B4}"/>
                </a:ext>
              </a:extLst>
            </p:cNvPr>
            <p:cNvSpPr/>
            <p:nvPr/>
          </p:nvSpPr>
          <p:spPr>
            <a:xfrm>
              <a:off x="4589483" y="1413321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Multiplication Sign 30">
              <a:extLst>
                <a:ext uri="{FF2B5EF4-FFF2-40B4-BE49-F238E27FC236}">
                  <a16:creationId xmlns="" xmlns:a16="http://schemas.microsoft.com/office/drawing/2014/main" id="{B7FBAD34-7BA0-4825-C452-2E129F422BE8}"/>
                </a:ext>
              </a:extLst>
            </p:cNvPr>
            <p:cNvSpPr/>
            <p:nvPr/>
          </p:nvSpPr>
          <p:spPr>
            <a:xfrm>
              <a:off x="3750277" y="1398258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lowchart: Connector 99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3890080" y="1824860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Flowchart: Connector 100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684621" y="2180422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7820059" y="2809937"/>
            <a:ext cx="1276844" cy="1022481"/>
            <a:chOff x="3750277" y="1398258"/>
            <a:chExt cx="1276844" cy="1022481"/>
          </a:xfrm>
        </p:grpSpPr>
        <p:sp>
          <p:nvSpPr>
            <p:cNvPr id="103" name="Multiplication Sign 28">
              <a:extLst>
                <a:ext uri="{FF2B5EF4-FFF2-40B4-BE49-F238E27FC236}">
                  <a16:creationId xmlns="" xmlns:a16="http://schemas.microsoft.com/office/drawing/2014/main" id="{EF2C4604-2054-55C1-D4DD-3007EA570640}"/>
                </a:ext>
              </a:extLst>
            </p:cNvPr>
            <p:cNvSpPr/>
            <p:nvPr/>
          </p:nvSpPr>
          <p:spPr>
            <a:xfrm>
              <a:off x="4187915" y="1781006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lowchart: Connector 103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277435" y="1466958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Multiplication Sign 29">
              <a:extLst>
                <a:ext uri="{FF2B5EF4-FFF2-40B4-BE49-F238E27FC236}">
                  <a16:creationId xmlns="" xmlns:a16="http://schemas.microsoft.com/office/drawing/2014/main" id="{0D6F0B83-7A78-AC8D-430E-14973386B0B4}"/>
                </a:ext>
              </a:extLst>
            </p:cNvPr>
            <p:cNvSpPr/>
            <p:nvPr/>
          </p:nvSpPr>
          <p:spPr>
            <a:xfrm>
              <a:off x="4589483" y="1413321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Multiplication Sign 30">
              <a:extLst>
                <a:ext uri="{FF2B5EF4-FFF2-40B4-BE49-F238E27FC236}">
                  <a16:creationId xmlns="" xmlns:a16="http://schemas.microsoft.com/office/drawing/2014/main" id="{B7FBAD34-7BA0-4825-C452-2E129F422BE8}"/>
                </a:ext>
              </a:extLst>
            </p:cNvPr>
            <p:cNvSpPr/>
            <p:nvPr/>
          </p:nvSpPr>
          <p:spPr>
            <a:xfrm>
              <a:off x="3750277" y="1398258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lowchart: Connector 106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3890080" y="1824860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Flowchart: Connector 107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684621" y="2180422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6711922" y="5623542"/>
            <a:ext cx="1276844" cy="1022481"/>
            <a:chOff x="3750277" y="1398258"/>
            <a:chExt cx="1276844" cy="1022481"/>
          </a:xfrm>
        </p:grpSpPr>
        <p:sp>
          <p:nvSpPr>
            <p:cNvPr id="152" name="Multiplication Sign 28">
              <a:extLst>
                <a:ext uri="{FF2B5EF4-FFF2-40B4-BE49-F238E27FC236}">
                  <a16:creationId xmlns="" xmlns:a16="http://schemas.microsoft.com/office/drawing/2014/main" id="{EF2C4604-2054-55C1-D4DD-3007EA570640}"/>
                </a:ext>
              </a:extLst>
            </p:cNvPr>
            <p:cNvSpPr/>
            <p:nvPr/>
          </p:nvSpPr>
          <p:spPr>
            <a:xfrm>
              <a:off x="4187915" y="1781006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lowchart: Connector 152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277435" y="1466958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Multiplication Sign 29">
              <a:extLst>
                <a:ext uri="{FF2B5EF4-FFF2-40B4-BE49-F238E27FC236}">
                  <a16:creationId xmlns="" xmlns:a16="http://schemas.microsoft.com/office/drawing/2014/main" id="{0D6F0B83-7A78-AC8D-430E-14973386B0B4}"/>
                </a:ext>
              </a:extLst>
            </p:cNvPr>
            <p:cNvSpPr/>
            <p:nvPr/>
          </p:nvSpPr>
          <p:spPr>
            <a:xfrm>
              <a:off x="4589483" y="1413321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Multiplication Sign 30">
              <a:extLst>
                <a:ext uri="{FF2B5EF4-FFF2-40B4-BE49-F238E27FC236}">
                  <a16:creationId xmlns="" xmlns:a16="http://schemas.microsoft.com/office/drawing/2014/main" id="{B7FBAD34-7BA0-4825-C452-2E129F422BE8}"/>
                </a:ext>
              </a:extLst>
            </p:cNvPr>
            <p:cNvSpPr/>
            <p:nvPr/>
          </p:nvSpPr>
          <p:spPr>
            <a:xfrm>
              <a:off x="3750277" y="1398258"/>
              <a:ext cx="437638" cy="349261"/>
            </a:xfrm>
            <a:prstGeom prst="mathMultiply">
              <a:avLst/>
            </a:prstGeom>
            <a:solidFill>
              <a:srgbClr val="EE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Flowchart: Connector 155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3890080" y="1824860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Flowchart: Connector 156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4684621" y="2180422"/>
              <a:ext cx="247361" cy="240317"/>
            </a:xfrm>
            <a:prstGeom prst="flowChartConnector">
              <a:avLst/>
            </a:prstGeom>
            <a:solidFill>
              <a:srgbClr val="00B05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9188997" y="2503370"/>
            <a:ext cx="1388109" cy="30665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Max’s turn</a:t>
            </a:r>
            <a:endParaRPr lang="en-US" dirty="0"/>
          </a:p>
        </p:txBody>
      </p:sp>
      <p:sp>
        <p:nvSpPr>
          <p:cNvPr id="165" name="Rounded Rectangle 164"/>
          <p:cNvSpPr/>
          <p:nvPr/>
        </p:nvSpPr>
        <p:spPr>
          <a:xfrm>
            <a:off x="9210598" y="3732781"/>
            <a:ext cx="1388109" cy="30665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Min’s turn</a:t>
            </a:r>
            <a:endParaRPr lang="en-US" dirty="0"/>
          </a:p>
        </p:txBody>
      </p:sp>
      <p:sp>
        <p:nvSpPr>
          <p:cNvPr id="166" name="Rounded Rectangle 165"/>
          <p:cNvSpPr/>
          <p:nvPr/>
        </p:nvSpPr>
        <p:spPr>
          <a:xfrm>
            <a:off x="9405231" y="5311114"/>
            <a:ext cx="1388109" cy="306653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Max’s turn</a:t>
            </a:r>
            <a:endParaRPr lang="en-US" dirty="0"/>
          </a:p>
        </p:txBody>
      </p:sp>
      <p:sp>
        <p:nvSpPr>
          <p:cNvPr id="167" name="Multiplication Sign 31">
            <a:extLst>
              <a:ext uri="{FF2B5EF4-FFF2-40B4-BE49-F238E27FC236}">
                <a16:creationId xmlns="" xmlns:a16="http://schemas.microsoft.com/office/drawing/2014/main" id="{40891487-7E92-A097-FBCC-19A474BAD546}"/>
              </a:ext>
            </a:extLst>
          </p:cNvPr>
          <p:cNvSpPr/>
          <p:nvPr/>
        </p:nvSpPr>
        <p:spPr>
          <a:xfrm>
            <a:off x="5292955" y="3529884"/>
            <a:ext cx="437638" cy="349261"/>
          </a:xfrm>
          <a:prstGeom prst="mathMultiply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Multiplication Sign 31">
            <a:extLst>
              <a:ext uri="{FF2B5EF4-FFF2-40B4-BE49-F238E27FC236}">
                <a16:creationId xmlns="" xmlns:a16="http://schemas.microsoft.com/office/drawing/2014/main" id="{40891487-7E92-A097-FBCC-19A474BAD546}"/>
              </a:ext>
            </a:extLst>
          </p:cNvPr>
          <p:cNvSpPr/>
          <p:nvPr/>
        </p:nvSpPr>
        <p:spPr>
          <a:xfrm>
            <a:off x="8245452" y="3529884"/>
            <a:ext cx="437638" cy="349261"/>
          </a:xfrm>
          <a:prstGeom prst="mathMultiply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190027" y="2300581"/>
            <a:ext cx="1058264" cy="624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617383" y="2297931"/>
            <a:ext cx="1202676" cy="627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78" idx="0"/>
          </p:cNvCxnSpPr>
          <p:nvPr/>
        </p:nvCxnSpPr>
        <p:spPr>
          <a:xfrm flipH="1">
            <a:off x="5923889" y="2300580"/>
            <a:ext cx="1226" cy="503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ounded Rectangle 168"/>
          <p:cNvSpPr/>
          <p:nvPr/>
        </p:nvSpPr>
        <p:spPr>
          <a:xfrm>
            <a:off x="4023596" y="2410364"/>
            <a:ext cx="532717" cy="299389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011105" y="2495152"/>
            <a:ext cx="520289" cy="299389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</a:t>
            </a:r>
            <a:endParaRPr lang="en-US" sz="2000" b="1" dirty="0"/>
          </a:p>
        </p:txBody>
      </p:sp>
      <p:sp>
        <p:nvSpPr>
          <p:cNvPr id="171" name="Rounded Rectangle 170"/>
          <p:cNvSpPr/>
          <p:nvPr/>
        </p:nvSpPr>
        <p:spPr>
          <a:xfrm>
            <a:off x="7615797" y="2464400"/>
            <a:ext cx="532717" cy="299389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</a:t>
            </a:r>
            <a:endParaRPr lang="en-US" sz="2000" b="1" dirty="0"/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2583099" y="3801243"/>
            <a:ext cx="412158" cy="400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173333" y="3867986"/>
            <a:ext cx="265722" cy="30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Multiplication Sign 31">
            <a:extLst>
              <a:ext uri="{FF2B5EF4-FFF2-40B4-BE49-F238E27FC236}">
                <a16:creationId xmlns="" xmlns:a16="http://schemas.microsoft.com/office/drawing/2014/main" id="{40891487-7E92-A097-FBCC-19A474BAD546}"/>
              </a:ext>
            </a:extLst>
          </p:cNvPr>
          <p:cNvSpPr/>
          <p:nvPr/>
        </p:nvSpPr>
        <p:spPr>
          <a:xfrm>
            <a:off x="9686961" y="5967675"/>
            <a:ext cx="437638" cy="349261"/>
          </a:xfrm>
          <a:prstGeom prst="mathMultiply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3762796" y="4195434"/>
            <a:ext cx="1312914" cy="1022481"/>
            <a:chOff x="2238796" y="4195433"/>
            <a:chExt cx="1312914" cy="1022481"/>
          </a:xfrm>
        </p:grpSpPr>
        <p:grpSp>
          <p:nvGrpSpPr>
            <p:cNvPr id="116" name="Group 115"/>
            <p:cNvGrpSpPr/>
            <p:nvPr/>
          </p:nvGrpSpPr>
          <p:grpSpPr>
            <a:xfrm>
              <a:off x="2238796" y="4195433"/>
              <a:ext cx="1276844" cy="1022481"/>
              <a:chOff x="3750277" y="1398258"/>
              <a:chExt cx="1276844" cy="1022481"/>
            </a:xfrm>
          </p:grpSpPr>
          <p:sp>
            <p:nvSpPr>
              <p:cNvPr id="117" name="Multiplication Sign 28">
                <a:extLst>
                  <a:ext uri="{FF2B5EF4-FFF2-40B4-BE49-F238E27FC236}">
                    <a16:creationId xmlns="" xmlns:a16="http://schemas.microsoft.com/office/drawing/2014/main" id="{EF2C4604-2054-55C1-D4DD-3007EA570640}"/>
                  </a:ext>
                </a:extLst>
              </p:cNvPr>
              <p:cNvSpPr/>
              <p:nvPr/>
            </p:nvSpPr>
            <p:spPr>
              <a:xfrm>
                <a:off x="4187915" y="1781006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Flowchart: Connector 117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277435" y="1466958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4589483" y="1413321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3750277" y="1398258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Flowchart: Connector 120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3890080" y="1824860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Flowchart: Connector 121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684621" y="2180422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5" name="Multiplication Sign 31">
              <a:extLst>
                <a:ext uri="{FF2B5EF4-FFF2-40B4-BE49-F238E27FC236}">
                  <a16:creationId xmlns="" xmlns:a16="http://schemas.microsoft.com/office/drawing/2014/main" id="{40891487-7E92-A097-FBCC-19A474BAD546}"/>
                </a:ext>
              </a:extLst>
            </p:cNvPr>
            <p:cNvSpPr/>
            <p:nvPr/>
          </p:nvSpPr>
          <p:spPr>
            <a:xfrm>
              <a:off x="3114072" y="4575607"/>
              <a:ext cx="437638" cy="349261"/>
            </a:xfrm>
            <a:prstGeom prst="mathMultiply">
              <a:avLst/>
            </a:prstGeom>
            <a:solidFill>
              <a:srgbClr val="0070C0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36339" y="4201972"/>
            <a:ext cx="1312914" cy="1022481"/>
            <a:chOff x="112339" y="4201971"/>
            <a:chExt cx="1312914" cy="1022481"/>
          </a:xfrm>
        </p:grpSpPr>
        <p:grpSp>
          <p:nvGrpSpPr>
            <p:cNvPr id="109" name="Group 108"/>
            <p:cNvGrpSpPr/>
            <p:nvPr/>
          </p:nvGrpSpPr>
          <p:grpSpPr>
            <a:xfrm>
              <a:off x="112339" y="4201971"/>
              <a:ext cx="1276844" cy="1022481"/>
              <a:chOff x="3750277" y="1398258"/>
              <a:chExt cx="1276844" cy="1022481"/>
            </a:xfrm>
          </p:grpSpPr>
          <p:sp>
            <p:nvSpPr>
              <p:cNvPr id="110" name="Multiplication Sign 28">
                <a:extLst>
                  <a:ext uri="{FF2B5EF4-FFF2-40B4-BE49-F238E27FC236}">
                    <a16:creationId xmlns="" xmlns:a16="http://schemas.microsoft.com/office/drawing/2014/main" id="{EF2C4604-2054-55C1-D4DD-3007EA570640}"/>
                  </a:ext>
                </a:extLst>
              </p:cNvPr>
              <p:cNvSpPr/>
              <p:nvPr/>
            </p:nvSpPr>
            <p:spPr>
              <a:xfrm>
                <a:off x="4187915" y="1781006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lowchart: Connector 110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277435" y="1466958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4589483" y="1413321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3750277" y="1398258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lowchart: Connector 113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3890080" y="1824860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Flowchart: Connector 114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684621" y="2180422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6" name="Multiplication Sign 31">
              <a:extLst>
                <a:ext uri="{FF2B5EF4-FFF2-40B4-BE49-F238E27FC236}">
                  <a16:creationId xmlns="" xmlns:a16="http://schemas.microsoft.com/office/drawing/2014/main" id="{40891487-7E92-A097-FBCC-19A474BAD546}"/>
                </a:ext>
              </a:extLst>
            </p:cNvPr>
            <p:cNvSpPr/>
            <p:nvPr/>
          </p:nvSpPr>
          <p:spPr>
            <a:xfrm>
              <a:off x="987615" y="4569747"/>
              <a:ext cx="437638" cy="349261"/>
            </a:xfrm>
            <a:prstGeom prst="mathMultiply">
              <a:avLst/>
            </a:prstGeom>
            <a:solidFill>
              <a:srgbClr val="0070C0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1" name="Group 200"/>
          <p:cNvGrpSpPr/>
          <p:nvPr/>
        </p:nvGrpSpPr>
        <p:grpSpPr>
          <a:xfrm>
            <a:off x="1648755" y="5642293"/>
            <a:ext cx="1276844" cy="1022481"/>
            <a:chOff x="124755" y="5642292"/>
            <a:chExt cx="1276844" cy="1022481"/>
          </a:xfrm>
        </p:grpSpPr>
        <p:grpSp>
          <p:nvGrpSpPr>
            <p:cNvPr id="137" name="Group 136"/>
            <p:cNvGrpSpPr/>
            <p:nvPr/>
          </p:nvGrpSpPr>
          <p:grpSpPr>
            <a:xfrm>
              <a:off x="124755" y="5642292"/>
              <a:ext cx="1276844" cy="1022481"/>
              <a:chOff x="3750277" y="1398258"/>
              <a:chExt cx="1276844" cy="1022481"/>
            </a:xfrm>
          </p:grpSpPr>
          <p:sp>
            <p:nvSpPr>
              <p:cNvPr id="138" name="Multiplication Sign 28">
                <a:extLst>
                  <a:ext uri="{FF2B5EF4-FFF2-40B4-BE49-F238E27FC236}">
                    <a16:creationId xmlns="" xmlns:a16="http://schemas.microsoft.com/office/drawing/2014/main" id="{EF2C4604-2054-55C1-D4DD-3007EA570640}"/>
                  </a:ext>
                </a:extLst>
              </p:cNvPr>
              <p:cNvSpPr/>
              <p:nvPr/>
            </p:nvSpPr>
            <p:spPr>
              <a:xfrm>
                <a:off x="4187915" y="1781006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Flowchart: Connector 138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277435" y="1466958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4589483" y="1413321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3750277" y="1398258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Flowchart: Connector 141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3890080" y="1824860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Flowchart: Connector 142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684621" y="2180422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4" name="Multiplication Sign 31">
              <a:extLst>
                <a:ext uri="{FF2B5EF4-FFF2-40B4-BE49-F238E27FC236}">
                  <a16:creationId xmlns="" xmlns:a16="http://schemas.microsoft.com/office/drawing/2014/main" id="{40891487-7E92-A097-FBCC-19A474BAD546}"/>
                </a:ext>
              </a:extLst>
            </p:cNvPr>
            <p:cNvSpPr/>
            <p:nvPr/>
          </p:nvSpPr>
          <p:spPr>
            <a:xfrm>
              <a:off x="954485" y="5993912"/>
              <a:ext cx="437638" cy="349261"/>
            </a:xfrm>
            <a:prstGeom prst="mathMultiply">
              <a:avLst/>
            </a:prstGeom>
            <a:solidFill>
              <a:srgbClr val="0070C0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Flowchart: Connector 176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259038" y="6423508"/>
              <a:ext cx="247361" cy="240317"/>
            </a:xfrm>
            <a:prstGeom prst="flowChartConnector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8" name="Flowchart: Connector 177">
            <a:extLst>
              <a:ext uri="{FF2B5EF4-FFF2-40B4-BE49-F238E27FC236}">
                <a16:creationId xmlns="" xmlns:a16="http://schemas.microsoft.com/office/drawing/2014/main" id="{4240242E-585D-254C-2E14-9B3990BE10F4}"/>
              </a:ext>
            </a:extLst>
          </p:cNvPr>
          <p:cNvSpPr/>
          <p:nvPr/>
        </p:nvSpPr>
        <p:spPr>
          <a:xfrm>
            <a:off x="4326100" y="4975994"/>
            <a:ext cx="247361" cy="240317"/>
          </a:xfrm>
          <a:prstGeom prst="flowChartConnector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Flowchart: Connector 178">
            <a:extLst>
              <a:ext uri="{FF2B5EF4-FFF2-40B4-BE49-F238E27FC236}">
                <a16:creationId xmlns="" xmlns:a16="http://schemas.microsoft.com/office/drawing/2014/main" id="{4240242E-585D-254C-2E14-9B3990BE10F4}"/>
              </a:ext>
            </a:extLst>
          </p:cNvPr>
          <p:cNvSpPr/>
          <p:nvPr/>
        </p:nvSpPr>
        <p:spPr>
          <a:xfrm>
            <a:off x="1792369" y="5000690"/>
            <a:ext cx="247361" cy="240317"/>
          </a:xfrm>
          <a:prstGeom prst="flowChartConnector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endCxn id="87" idx="0"/>
          </p:cNvCxnSpPr>
          <p:nvPr/>
        </p:nvCxnSpPr>
        <p:spPr>
          <a:xfrm>
            <a:off x="2299593" y="5177724"/>
            <a:ext cx="10658" cy="4727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/>
          <p:cNvCxnSpPr/>
          <p:nvPr/>
        </p:nvCxnSpPr>
        <p:spPr>
          <a:xfrm>
            <a:off x="4439056" y="5273306"/>
            <a:ext cx="5329" cy="404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Multiplication Sign 31">
            <a:extLst>
              <a:ext uri="{FF2B5EF4-FFF2-40B4-BE49-F238E27FC236}">
                <a16:creationId xmlns="" xmlns:a16="http://schemas.microsoft.com/office/drawing/2014/main" id="{40891487-7E92-A097-FBCC-19A474BAD546}"/>
              </a:ext>
            </a:extLst>
          </p:cNvPr>
          <p:cNvSpPr/>
          <p:nvPr/>
        </p:nvSpPr>
        <p:spPr>
          <a:xfrm>
            <a:off x="2073977" y="6379061"/>
            <a:ext cx="437638" cy="349261"/>
          </a:xfrm>
          <a:prstGeom prst="mathMultiply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Multiplication Sign 31">
            <a:extLst>
              <a:ext uri="{FF2B5EF4-FFF2-40B4-BE49-F238E27FC236}">
                <a16:creationId xmlns="" xmlns:a16="http://schemas.microsoft.com/office/drawing/2014/main" id="{40891487-7E92-A097-FBCC-19A474BAD546}"/>
              </a:ext>
            </a:extLst>
          </p:cNvPr>
          <p:cNvSpPr/>
          <p:nvPr/>
        </p:nvSpPr>
        <p:spPr>
          <a:xfrm>
            <a:off x="3816166" y="6383028"/>
            <a:ext cx="437638" cy="349261"/>
          </a:xfrm>
          <a:prstGeom prst="mathMultiply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3" name="Group 222"/>
          <p:cNvGrpSpPr/>
          <p:nvPr/>
        </p:nvGrpSpPr>
        <p:grpSpPr>
          <a:xfrm>
            <a:off x="8846628" y="5598979"/>
            <a:ext cx="1276844" cy="1097960"/>
            <a:chOff x="7322628" y="5598979"/>
            <a:chExt cx="1276844" cy="1097960"/>
          </a:xfrm>
        </p:grpSpPr>
        <p:grpSp>
          <p:nvGrpSpPr>
            <p:cNvPr id="158" name="Group 157"/>
            <p:cNvGrpSpPr/>
            <p:nvPr/>
          </p:nvGrpSpPr>
          <p:grpSpPr>
            <a:xfrm>
              <a:off x="7322628" y="5598979"/>
              <a:ext cx="1276844" cy="1022481"/>
              <a:chOff x="3750277" y="1398258"/>
              <a:chExt cx="1276844" cy="1022481"/>
            </a:xfrm>
          </p:grpSpPr>
          <p:sp>
            <p:nvSpPr>
              <p:cNvPr id="159" name="Multiplication Sign 28">
                <a:extLst>
                  <a:ext uri="{FF2B5EF4-FFF2-40B4-BE49-F238E27FC236}">
                    <a16:creationId xmlns="" xmlns:a16="http://schemas.microsoft.com/office/drawing/2014/main" id="{EF2C4604-2054-55C1-D4DD-3007EA570640}"/>
                  </a:ext>
                </a:extLst>
              </p:cNvPr>
              <p:cNvSpPr/>
              <p:nvPr/>
            </p:nvSpPr>
            <p:spPr>
              <a:xfrm>
                <a:off x="4187915" y="1781006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Flowchart: Connector 159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277435" y="1466958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4589483" y="1413321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3750277" y="1398258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Flowchart: Connector 162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3890080" y="1824860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Flowchart: Connector 163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684621" y="2180422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1" name="Multiplication Sign 31">
              <a:extLst>
                <a:ext uri="{FF2B5EF4-FFF2-40B4-BE49-F238E27FC236}">
                  <a16:creationId xmlns="" xmlns:a16="http://schemas.microsoft.com/office/drawing/2014/main" id="{40891487-7E92-A097-FBCC-19A474BAD546}"/>
                </a:ext>
              </a:extLst>
            </p:cNvPr>
            <p:cNvSpPr/>
            <p:nvPr/>
          </p:nvSpPr>
          <p:spPr>
            <a:xfrm>
              <a:off x="7797733" y="6347678"/>
              <a:ext cx="437638" cy="349261"/>
            </a:xfrm>
            <a:prstGeom prst="mathMultiply">
              <a:avLst/>
            </a:prstGeom>
            <a:solidFill>
              <a:srgbClr val="0070C0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Flowchart: Connector 194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7490215" y="6404012"/>
              <a:ext cx="247361" cy="240317"/>
            </a:xfrm>
            <a:prstGeom prst="flowChartConnector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6" name="Flowchart: Connector 195">
            <a:extLst>
              <a:ext uri="{FF2B5EF4-FFF2-40B4-BE49-F238E27FC236}">
                <a16:creationId xmlns="" xmlns:a16="http://schemas.microsoft.com/office/drawing/2014/main" id="{4240242E-585D-254C-2E14-9B3990BE10F4}"/>
              </a:ext>
            </a:extLst>
          </p:cNvPr>
          <p:cNvSpPr/>
          <p:nvPr/>
        </p:nvSpPr>
        <p:spPr>
          <a:xfrm>
            <a:off x="7653188" y="6042823"/>
            <a:ext cx="247361" cy="240317"/>
          </a:xfrm>
          <a:prstGeom prst="flowChartConnector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Flowchart: Connector 196">
            <a:extLst>
              <a:ext uri="{FF2B5EF4-FFF2-40B4-BE49-F238E27FC236}">
                <a16:creationId xmlns="" xmlns:a16="http://schemas.microsoft.com/office/drawing/2014/main" id="{4240242E-585D-254C-2E14-9B3990BE10F4}"/>
              </a:ext>
            </a:extLst>
          </p:cNvPr>
          <p:cNvSpPr/>
          <p:nvPr/>
        </p:nvSpPr>
        <p:spPr>
          <a:xfrm>
            <a:off x="8974818" y="5003241"/>
            <a:ext cx="247361" cy="240317"/>
          </a:xfrm>
          <a:prstGeom prst="flowChartConnector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Flowchart: Connector 197">
            <a:extLst>
              <a:ext uri="{FF2B5EF4-FFF2-40B4-BE49-F238E27FC236}">
                <a16:creationId xmlns="" xmlns:a16="http://schemas.microsoft.com/office/drawing/2014/main" id="{4240242E-585D-254C-2E14-9B3990BE10F4}"/>
              </a:ext>
            </a:extLst>
          </p:cNvPr>
          <p:cNvSpPr/>
          <p:nvPr/>
        </p:nvSpPr>
        <p:spPr>
          <a:xfrm>
            <a:off x="7676351" y="4607369"/>
            <a:ext cx="247361" cy="240317"/>
          </a:xfrm>
          <a:prstGeom prst="flowChartConnector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2" name="Group 201"/>
          <p:cNvGrpSpPr/>
          <p:nvPr/>
        </p:nvGrpSpPr>
        <p:grpSpPr>
          <a:xfrm>
            <a:off x="3771503" y="5640681"/>
            <a:ext cx="1299375" cy="1033427"/>
            <a:chOff x="2247502" y="5640680"/>
            <a:chExt cx="1299375" cy="1033427"/>
          </a:xfrm>
        </p:grpSpPr>
        <p:grpSp>
          <p:nvGrpSpPr>
            <p:cNvPr id="144" name="Group 143"/>
            <p:cNvGrpSpPr/>
            <p:nvPr/>
          </p:nvGrpSpPr>
          <p:grpSpPr>
            <a:xfrm>
              <a:off x="2247502" y="5640680"/>
              <a:ext cx="1276844" cy="1022481"/>
              <a:chOff x="3750277" y="1398258"/>
              <a:chExt cx="1276844" cy="1022481"/>
            </a:xfrm>
          </p:grpSpPr>
          <p:sp>
            <p:nvSpPr>
              <p:cNvPr id="145" name="Multiplication Sign 28">
                <a:extLst>
                  <a:ext uri="{FF2B5EF4-FFF2-40B4-BE49-F238E27FC236}">
                    <a16:creationId xmlns="" xmlns:a16="http://schemas.microsoft.com/office/drawing/2014/main" id="{EF2C4604-2054-55C1-D4DD-3007EA570640}"/>
                  </a:ext>
                </a:extLst>
              </p:cNvPr>
              <p:cNvSpPr/>
              <p:nvPr/>
            </p:nvSpPr>
            <p:spPr>
              <a:xfrm>
                <a:off x="4187915" y="1781006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Flowchart: Connector 145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277435" y="1466958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4589483" y="1413321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3750277" y="1398258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Flowchart: Connector 148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3890080" y="1824860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Flowchart: Connector 149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684621" y="2180422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4" name="Multiplication Sign 31">
              <a:extLst>
                <a:ext uri="{FF2B5EF4-FFF2-40B4-BE49-F238E27FC236}">
                  <a16:creationId xmlns="" xmlns:a16="http://schemas.microsoft.com/office/drawing/2014/main" id="{40891487-7E92-A097-FBCC-19A474BAD546}"/>
                </a:ext>
              </a:extLst>
            </p:cNvPr>
            <p:cNvSpPr/>
            <p:nvPr/>
          </p:nvSpPr>
          <p:spPr>
            <a:xfrm>
              <a:off x="3109239" y="6013408"/>
              <a:ext cx="437638" cy="349261"/>
            </a:xfrm>
            <a:prstGeom prst="mathMultiply">
              <a:avLst/>
            </a:prstGeom>
            <a:solidFill>
              <a:srgbClr val="0070C0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Flowchart: Connector 198">
              <a:extLst>
                <a:ext uri="{FF2B5EF4-FFF2-40B4-BE49-F238E27FC236}">
                  <a16:creationId xmlns="" xmlns:a16="http://schemas.microsoft.com/office/drawing/2014/main" id="{4240242E-585D-254C-2E14-9B3990BE10F4}"/>
                </a:ext>
              </a:extLst>
            </p:cNvPr>
            <p:cNvSpPr/>
            <p:nvPr/>
          </p:nvSpPr>
          <p:spPr>
            <a:xfrm>
              <a:off x="2802098" y="6433790"/>
              <a:ext cx="247361" cy="240317"/>
            </a:xfrm>
            <a:prstGeom prst="flowChartConnector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09" name="Straight Arrow Connector 208"/>
          <p:cNvCxnSpPr/>
          <p:nvPr/>
        </p:nvCxnSpPr>
        <p:spPr>
          <a:xfrm flipH="1">
            <a:off x="7667080" y="3758986"/>
            <a:ext cx="289100" cy="410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/>
          <p:nvPr/>
        </p:nvCxnSpPr>
        <p:spPr>
          <a:xfrm>
            <a:off x="8802294" y="3889514"/>
            <a:ext cx="386703" cy="275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5" name="Group 214"/>
          <p:cNvGrpSpPr/>
          <p:nvPr/>
        </p:nvGrpSpPr>
        <p:grpSpPr>
          <a:xfrm>
            <a:off x="8825027" y="4201971"/>
            <a:ext cx="1276844" cy="1095206"/>
            <a:chOff x="7301027" y="4201971"/>
            <a:chExt cx="1276844" cy="1095206"/>
          </a:xfrm>
        </p:grpSpPr>
        <p:grpSp>
          <p:nvGrpSpPr>
            <p:cNvPr id="130" name="Group 129"/>
            <p:cNvGrpSpPr/>
            <p:nvPr/>
          </p:nvGrpSpPr>
          <p:grpSpPr>
            <a:xfrm>
              <a:off x="7301027" y="4201971"/>
              <a:ext cx="1276844" cy="1022481"/>
              <a:chOff x="3750277" y="1398258"/>
              <a:chExt cx="1276844" cy="1022481"/>
            </a:xfrm>
          </p:grpSpPr>
          <p:sp>
            <p:nvSpPr>
              <p:cNvPr id="131" name="Multiplication Sign 28">
                <a:extLst>
                  <a:ext uri="{FF2B5EF4-FFF2-40B4-BE49-F238E27FC236}">
                    <a16:creationId xmlns="" xmlns:a16="http://schemas.microsoft.com/office/drawing/2014/main" id="{EF2C4604-2054-55C1-D4DD-3007EA570640}"/>
                  </a:ext>
                </a:extLst>
              </p:cNvPr>
              <p:cNvSpPr/>
              <p:nvPr/>
            </p:nvSpPr>
            <p:spPr>
              <a:xfrm>
                <a:off x="4187915" y="1781006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Flowchart: Connector 131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277435" y="1466958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4589483" y="1413321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3750277" y="1398258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Flowchart: Connector 134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3890080" y="1824860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Flowchart: Connector 135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684621" y="2180422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2" name="Multiplication Sign 31">
              <a:extLst>
                <a:ext uri="{FF2B5EF4-FFF2-40B4-BE49-F238E27FC236}">
                  <a16:creationId xmlns="" xmlns:a16="http://schemas.microsoft.com/office/drawing/2014/main" id="{40891487-7E92-A097-FBCC-19A474BAD546}"/>
                </a:ext>
              </a:extLst>
            </p:cNvPr>
            <p:cNvSpPr/>
            <p:nvPr/>
          </p:nvSpPr>
          <p:spPr>
            <a:xfrm>
              <a:off x="7754022" y="4947916"/>
              <a:ext cx="437638" cy="349261"/>
            </a:xfrm>
            <a:prstGeom prst="mathMultiply">
              <a:avLst/>
            </a:prstGeom>
            <a:solidFill>
              <a:srgbClr val="0070C0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4" name="Group 213"/>
          <p:cNvGrpSpPr/>
          <p:nvPr/>
        </p:nvGrpSpPr>
        <p:grpSpPr>
          <a:xfrm>
            <a:off x="6732736" y="4187000"/>
            <a:ext cx="1276844" cy="1104587"/>
            <a:chOff x="5208736" y="4186999"/>
            <a:chExt cx="1276844" cy="1104587"/>
          </a:xfrm>
        </p:grpSpPr>
        <p:grpSp>
          <p:nvGrpSpPr>
            <p:cNvPr id="123" name="Group 122"/>
            <p:cNvGrpSpPr/>
            <p:nvPr/>
          </p:nvGrpSpPr>
          <p:grpSpPr>
            <a:xfrm>
              <a:off x="5208736" y="4186999"/>
              <a:ext cx="1276844" cy="1022481"/>
              <a:chOff x="3750277" y="1398258"/>
              <a:chExt cx="1276844" cy="1022481"/>
            </a:xfrm>
          </p:grpSpPr>
          <p:sp>
            <p:nvSpPr>
              <p:cNvPr id="124" name="Multiplication Sign 28">
                <a:extLst>
                  <a:ext uri="{FF2B5EF4-FFF2-40B4-BE49-F238E27FC236}">
                    <a16:creationId xmlns="" xmlns:a16="http://schemas.microsoft.com/office/drawing/2014/main" id="{EF2C4604-2054-55C1-D4DD-3007EA570640}"/>
                  </a:ext>
                </a:extLst>
              </p:cNvPr>
              <p:cNvSpPr/>
              <p:nvPr/>
            </p:nvSpPr>
            <p:spPr>
              <a:xfrm>
                <a:off x="4187915" y="1781006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Flowchart: Connector 124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277435" y="1466958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Multiplication Sign 29">
                <a:extLst>
                  <a:ext uri="{FF2B5EF4-FFF2-40B4-BE49-F238E27FC236}">
                    <a16:creationId xmlns="" xmlns:a16="http://schemas.microsoft.com/office/drawing/2014/main" id="{0D6F0B83-7A78-AC8D-430E-14973386B0B4}"/>
                  </a:ext>
                </a:extLst>
              </p:cNvPr>
              <p:cNvSpPr/>
              <p:nvPr/>
            </p:nvSpPr>
            <p:spPr>
              <a:xfrm>
                <a:off x="4589483" y="1413321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Multiplication Sign 30">
                <a:extLst>
                  <a:ext uri="{FF2B5EF4-FFF2-40B4-BE49-F238E27FC236}">
                    <a16:creationId xmlns="" xmlns:a16="http://schemas.microsoft.com/office/drawing/2014/main" id="{B7FBAD34-7BA0-4825-C452-2E129F422BE8}"/>
                  </a:ext>
                </a:extLst>
              </p:cNvPr>
              <p:cNvSpPr/>
              <p:nvPr/>
            </p:nvSpPr>
            <p:spPr>
              <a:xfrm>
                <a:off x="3750277" y="1398258"/>
                <a:ext cx="437638" cy="349261"/>
              </a:xfrm>
              <a:prstGeom prst="mathMultiply">
                <a:avLst/>
              </a:prstGeom>
              <a:solidFill>
                <a:srgbClr val="EE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Flowchart: Connector 127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3890080" y="1824860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Flowchart: Connector 128">
                <a:extLst>
                  <a:ext uri="{FF2B5EF4-FFF2-40B4-BE49-F238E27FC236}">
                    <a16:creationId xmlns="" xmlns:a16="http://schemas.microsoft.com/office/drawing/2014/main" id="{4240242E-585D-254C-2E14-9B3990BE10F4}"/>
                  </a:ext>
                </a:extLst>
              </p:cNvPr>
              <p:cNvSpPr/>
              <p:nvPr/>
            </p:nvSpPr>
            <p:spPr>
              <a:xfrm>
                <a:off x="4684621" y="2180422"/>
                <a:ext cx="247361" cy="240317"/>
              </a:xfrm>
              <a:prstGeom prst="flowChartConnector">
                <a:avLst/>
              </a:prstGeom>
              <a:solidFill>
                <a:srgbClr val="00B05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3" name="Multiplication Sign 31">
              <a:extLst>
                <a:ext uri="{FF2B5EF4-FFF2-40B4-BE49-F238E27FC236}">
                  <a16:creationId xmlns="" xmlns:a16="http://schemas.microsoft.com/office/drawing/2014/main" id="{40891487-7E92-A097-FBCC-19A474BAD546}"/>
                </a:ext>
              </a:extLst>
            </p:cNvPr>
            <p:cNvSpPr/>
            <p:nvPr/>
          </p:nvSpPr>
          <p:spPr>
            <a:xfrm>
              <a:off x="5619941" y="4942325"/>
              <a:ext cx="437638" cy="349261"/>
            </a:xfrm>
            <a:prstGeom prst="mathMultiply">
              <a:avLst/>
            </a:prstGeom>
            <a:solidFill>
              <a:srgbClr val="0070C0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7" name="Straight Arrow Connector 216"/>
          <p:cNvCxnSpPr>
            <a:endCxn id="85" idx="0"/>
          </p:cNvCxnSpPr>
          <p:nvPr/>
        </p:nvCxnSpPr>
        <p:spPr>
          <a:xfrm>
            <a:off x="7362760" y="5243558"/>
            <a:ext cx="10368" cy="377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/>
          <p:nvPr/>
        </p:nvCxnSpPr>
        <p:spPr>
          <a:xfrm>
            <a:off x="9476105" y="5269998"/>
            <a:ext cx="10368" cy="377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Multiplication Sign 31">
            <a:extLst>
              <a:ext uri="{FF2B5EF4-FFF2-40B4-BE49-F238E27FC236}">
                <a16:creationId xmlns="" xmlns:a16="http://schemas.microsoft.com/office/drawing/2014/main" id="{40891487-7E92-A097-FBCC-19A474BAD546}"/>
              </a:ext>
            </a:extLst>
          </p:cNvPr>
          <p:cNvSpPr/>
          <p:nvPr/>
        </p:nvSpPr>
        <p:spPr>
          <a:xfrm>
            <a:off x="7178158" y="6388762"/>
            <a:ext cx="437638" cy="349261"/>
          </a:xfrm>
          <a:prstGeom prst="mathMultiply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Multiplication Sign 31">
            <a:extLst>
              <a:ext uri="{FF2B5EF4-FFF2-40B4-BE49-F238E27FC236}">
                <a16:creationId xmlns="" xmlns:a16="http://schemas.microsoft.com/office/drawing/2014/main" id="{40891487-7E92-A097-FBCC-19A474BAD546}"/>
              </a:ext>
            </a:extLst>
          </p:cNvPr>
          <p:cNvSpPr/>
          <p:nvPr/>
        </p:nvSpPr>
        <p:spPr>
          <a:xfrm>
            <a:off x="6774125" y="6375418"/>
            <a:ext cx="437638" cy="349261"/>
          </a:xfrm>
          <a:prstGeom prst="mathMultiply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91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04" grpId="0" animBg="1"/>
      <p:bldP spid="221" grpId="0" animBg="1"/>
      <p:bldP spid="207" grpId="0" animBg="1"/>
      <p:bldP spid="206" grpId="0" animBg="1"/>
      <p:bldP spid="203" grpId="0" animBg="1"/>
      <p:bldP spid="2" grpId="0"/>
      <p:bldP spid="6" grpId="0" build="p"/>
      <p:bldP spid="66" grpId="0" animBg="1"/>
      <p:bldP spid="8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1" grpId="0" animBg="1"/>
      <p:bldP spid="173" grpId="0" animBg="1"/>
      <p:bldP spid="178" grpId="0" animBg="1"/>
      <p:bldP spid="179" grpId="0" animBg="1"/>
      <p:bldP spid="192" grpId="0" animBg="1"/>
      <p:bldP spid="193" grpId="0" animBg="1"/>
      <p:bldP spid="196" grpId="0" animBg="1"/>
      <p:bldP spid="197" grpId="0" animBg="1"/>
      <p:bldP spid="198" grpId="0" animBg="1"/>
      <p:bldP spid="219" grpId="0" animBg="1"/>
      <p:bldP spid="2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AEF331-3701-D312-CE09-5F66D320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0CE015-C9D8-D2EC-BAB1-C54BDE63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7275519" cy="118960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b="1" dirty="0"/>
              <a:t>Example (Numeric Tree)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7EB26EC-0B37-D7AA-9EE5-F6857F2F3023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BE84C36-8D0B-ACEF-6B2C-BA684B113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230" y="1545771"/>
            <a:ext cx="8454570" cy="4580392"/>
          </a:xfrm>
        </p:spPr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Isosceles Triangle 2"/>
          <p:cNvSpPr/>
          <p:nvPr/>
        </p:nvSpPr>
        <p:spPr>
          <a:xfrm>
            <a:off x="5008459" y="1638300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3</a:t>
            </a:r>
            <a:endParaRPr lang="en-US" b="1" dirty="0"/>
          </a:p>
        </p:txBody>
      </p:sp>
      <p:sp>
        <p:nvSpPr>
          <p:cNvPr id="7" name="Isosceles Triangle 6"/>
          <p:cNvSpPr/>
          <p:nvPr/>
        </p:nvSpPr>
        <p:spPr>
          <a:xfrm rot="10800000">
            <a:off x="2463379" y="3421380"/>
            <a:ext cx="1264920" cy="929640"/>
          </a:xfrm>
          <a:prstGeom prst="triangl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7180876" y="3497580"/>
            <a:ext cx="1264920" cy="929640"/>
          </a:xfrm>
          <a:prstGeom prst="triangl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890961" y="5523218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6</a:t>
            </a:r>
            <a:endParaRPr lang="en-US" b="1" dirty="0"/>
          </a:p>
        </p:txBody>
      </p:sp>
      <p:sp>
        <p:nvSpPr>
          <p:cNvPr id="12" name="Isosceles Triangle 11"/>
          <p:cNvSpPr/>
          <p:nvPr/>
        </p:nvSpPr>
        <p:spPr>
          <a:xfrm>
            <a:off x="6626041" y="5523218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4</a:t>
            </a:r>
            <a:endParaRPr lang="en-US" b="1" dirty="0"/>
          </a:p>
        </p:txBody>
      </p:sp>
      <p:sp>
        <p:nvSpPr>
          <p:cNvPr id="13" name="Isosceles Triangle 12"/>
          <p:cNvSpPr/>
          <p:nvPr/>
        </p:nvSpPr>
        <p:spPr>
          <a:xfrm>
            <a:off x="5351055" y="5523218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2</a:t>
            </a:r>
            <a:endParaRPr lang="en-US" b="1" dirty="0"/>
          </a:p>
        </p:txBody>
      </p:sp>
      <p:sp>
        <p:nvSpPr>
          <p:cNvPr id="14" name="Isosceles Triangle 13"/>
          <p:cNvSpPr/>
          <p:nvPr/>
        </p:nvSpPr>
        <p:spPr>
          <a:xfrm>
            <a:off x="4048339" y="5508943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8</a:t>
            </a:r>
            <a:endParaRPr lang="en-US" b="1" dirty="0"/>
          </a:p>
        </p:txBody>
      </p:sp>
      <p:sp>
        <p:nvSpPr>
          <p:cNvPr id="15" name="Isosceles Triangle 14"/>
          <p:cNvSpPr/>
          <p:nvPr/>
        </p:nvSpPr>
        <p:spPr>
          <a:xfrm>
            <a:off x="2788920" y="5523218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12</a:t>
            </a:r>
            <a:endParaRPr lang="en-US" b="1" dirty="0"/>
          </a:p>
        </p:txBody>
      </p:sp>
      <p:sp>
        <p:nvSpPr>
          <p:cNvPr id="16" name="Isosceles Triangle 15"/>
          <p:cNvSpPr/>
          <p:nvPr/>
        </p:nvSpPr>
        <p:spPr>
          <a:xfrm>
            <a:off x="1524000" y="5523218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3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7" idx="0"/>
          </p:cNvCxnSpPr>
          <p:nvPr/>
        </p:nvCxnSpPr>
        <p:spPr>
          <a:xfrm flipH="1">
            <a:off x="2156461" y="4351021"/>
            <a:ext cx="939379" cy="1157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0"/>
            <a:endCxn id="15" idx="0"/>
          </p:cNvCxnSpPr>
          <p:nvPr/>
        </p:nvCxnSpPr>
        <p:spPr>
          <a:xfrm>
            <a:off x="3095840" y="4351020"/>
            <a:ext cx="325541" cy="1172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4" idx="0"/>
          </p:cNvCxnSpPr>
          <p:nvPr/>
        </p:nvCxnSpPr>
        <p:spPr>
          <a:xfrm>
            <a:off x="3249299" y="4343883"/>
            <a:ext cx="1431501" cy="1165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3" idx="0"/>
          </p:cNvCxnSpPr>
          <p:nvPr/>
        </p:nvCxnSpPr>
        <p:spPr>
          <a:xfrm flipH="1">
            <a:off x="5983516" y="4475868"/>
            <a:ext cx="1697445" cy="1047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0"/>
            <a:endCxn id="11" idx="0"/>
          </p:cNvCxnSpPr>
          <p:nvPr/>
        </p:nvCxnSpPr>
        <p:spPr>
          <a:xfrm>
            <a:off x="7813337" y="4427220"/>
            <a:ext cx="710085" cy="1095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0"/>
            <a:endCxn id="12" idx="0"/>
          </p:cNvCxnSpPr>
          <p:nvPr/>
        </p:nvCxnSpPr>
        <p:spPr>
          <a:xfrm flipH="1">
            <a:off x="7258502" y="4427220"/>
            <a:ext cx="554835" cy="1095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3631382" y="2697480"/>
            <a:ext cx="1797299" cy="723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836920" y="2660470"/>
            <a:ext cx="1698998" cy="837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10840" y="3485909"/>
            <a:ext cx="338458" cy="4832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</a:t>
            </a:r>
            <a:endParaRPr lang="en-US" b="1" dirty="0"/>
          </a:p>
        </p:txBody>
      </p:sp>
      <p:sp>
        <p:nvSpPr>
          <p:cNvPr id="35" name="Rectangle 34"/>
          <p:cNvSpPr/>
          <p:nvPr/>
        </p:nvSpPr>
        <p:spPr>
          <a:xfrm>
            <a:off x="7592907" y="3607284"/>
            <a:ext cx="403389" cy="4099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2883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01B7D83-695C-BAA8-8064-1D5A3F34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A92194-0419-B090-B94C-B3A98040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0" y="150101"/>
            <a:ext cx="8454570" cy="119972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Game Representation </a:t>
            </a:r>
            <a:br>
              <a:rPr lang="en-US" sz="4800" b="1" dirty="0"/>
            </a:br>
            <a:r>
              <a:rPr lang="en-US" sz="3200" b="1" dirty="0"/>
              <a:t>Parts needed to play a Game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17A351A-8535-DF04-E610-71D3705F664B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E0FAACD-1E11-DB91-3B27-15AE3F555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230" y="1545771"/>
            <a:ext cx="8701500" cy="52764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function MINIMAX-DECISION(state)</a:t>
            </a:r>
          </a:p>
          <a:p>
            <a:pPr marL="0" indent="0">
              <a:buNone/>
            </a:pPr>
            <a:r>
              <a:rPr lang="en-US" sz="1800" dirty="0"/>
              <a:t>    return </a:t>
            </a:r>
            <a:r>
              <a:rPr lang="en-US" sz="1800" dirty="0" err="1"/>
              <a:t>argmax_a</a:t>
            </a:r>
            <a:r>
              <a:rPr lang="en-US" sz="1800" dirty="0"/>
              <a:t> MIN-VALUE(RESULT(state, a))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function MAX-VALUE(state)</a:t>
            </a:r>
          </a:p>
          <a:p>
            <a:pPr marL="0" indent="0">
              <a:buNone/>
            </a:pPr>
            <a:r>
              <a:rPr lang="en-US" sz="1800" dirty="0"/>
              <a:t>    if TERMINAL(state) then return UTILITY(state)</a:t>
            </a:r>
          </a:p>
          <a:p>
            <a:pPr marL="0" indent="0">
              <a:buNone/>
            </a:pPr>
            <a:r>
              <a:rPr lang="en-US" sz="1800" dirty="0"/>
              <a:t>    v ← −∞</a:t>
            </a:r>
          </a:p>
          <a:p>
            <a:pPr marL="0" indent="0">
              <a:buNone/>
            </a:pPr>
            <a:r>
              <a:rPr lang="en-US" sz="1800" dirty="0"/>
              <a:t>    for each a in ACTIONS(state) do</a:t>
            </a:r>
          </a:p>
          <a:p>
            <a:pPr marL="0" indent="0">
              <a:buNone/>
            </a:pPr>
            <a:r>
              <a:rPr lang="en-US" sz="1800" dirty="0"/>
              <a:t>        v ← max(v, MIN-VALUE(RESULT(state, a)))</a:t>
            </a:r>
          </a:p>
          <a:p>
            <a:pPr marL="0" indent="0">
              <a:buNone/>
            </a:pPr>
            <a:r>
              <a:rPr lang="en-US" sz="1800" dirty="0"/>
              <a:t>    return v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function MIN-VALUE(state)</a:t>
            </a:r>
          </a:p>
          <a:p>
            <a:pPr marL="0" indent="0">
              <a:buNone/>
            </a:pPr>
            <a:r>
              <a:rPr lang="en-US" sz="1800" dirty="0"/>
              <a:t>    if TERMINAL(state) then return UTILITY(state)</a:t>
            </a:r>
          </a:p>
          <a:p>
            <a:pPr marL="0" indent="0">
              <a:buNone/>
            </a:pPr>
            <a:r>
              <a:rPr lang="en-US" sz="1800" dirty="0"/>
              <a:t>    v ← +∞</a:t>
            </a:r>
          </a:p>
          <a:p>
            <a:pPr marL="0" indent="0">
              <a:buNone/>
            </a:pPr>
            <a:r>
              <a:rPr lang="en-US" sz="1800" dirty="0"/>
              <a:t>    for each a in ACTIONS(state) do</a:t>
            </a:r>
          </a:p>
          <a:p>
            <a:pPr marL="0" indent="0">
              <a:buNone/>
            </a:pPr>
            <a:r>
              <a:rPr lang="en-US" sz="1800" dirty="0"/>
              <a:t>        v ← min(v, MAX-VALUE(RESULT(state, a)))</a:t>
            </a:r>
          </a:p>
          <a:p>
            <a:pPr marL="0" indent="0">
              <a:buNone/>
            </a:pPr>
            <a:r>
              <a:rPr lang="en-US" sz="1800" dirty="0"/>
              <a:t>    return v</a:t>
            </a:r>
          </a:p>
        </p:txBody>
      </p:sp>
    </p:spTree>
    <p:extLst>
      <p:ext uri="{BB962C8B-B14F-4D97-AF65-F5344CB8AC3E}">
        <p14:creationId xmlns:p14="http://schemas.microsoft.com/office/powerpoint/2010/main" val="162141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01B7D83-695C-BAA8-8064-1D5A3F34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A92194-0419-B090-B94C-B3A98040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0" y="150101"/>
            <a:ext cx="8454570" cy="119972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b="1" dirty="0"/>
              <a:t/>
            </a:r>
            <a:br>
              <a:rPr lang="en-US" sz="4800" b="1" dirty="0"/>
            </a:br>
            <a:r>
              <a:rPr lang="en-US" sz="4800" b="1" dirty="0"/>
              <a:t>Game Representation </a:t>
            </a:r>
            <a:br>
              <a:rPr lang="en-US" sz="4800" b="1" dirty="0"/>
            </a:br>
            <a:r>
              <a:rPr lang="en-US" sz="3200" b="1" dirty="0"/>
              <a:t>Parts needed to play a Game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17A351A-8535-DF04-E610-71D3705F664B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755776" y="2690622"/>
            <a:ext cx="858884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Arial" panose="020B0604020202020204" pitchFamily="34" charset="0"/>
              </a:rPr>
              <a:t>The </a:t>
            </a:r>
            <a:r>
              <a:rPr lang="en-US" sz="2400" dirty="0" err="1">
                <a:latin typeface="Arial" panose="020B0604020202020204" pitchFamily="34" charset="0"/>
              </a:rPr>
              <a:t>minimax</a:t>
            </a:r>
            <a:r>
              <a:rPr lang="en-US" sz="2400" dirty="0">
                <a:latin typeface="Arial" panose="020B0604020202020204" pitchFamily="34" charset="0"/>
              </a:rPr>
              <a:t> algorithm is a recursive decision-making algorithm used in adversarial games. The </a:t>
            </a:r>
            <a:r>
              <a:rPr lang="en-US" sz="2400" dirty="0">
                <a:latin typeface="Arial Unicode MS" panose="020B0604020202020204" pitchFamily="34" charset="-128"/>
              </a:rPr>
              <a:t>MINIMAX-DECISION</a:t>
            </a:r>
            <a:r>
              <a:rPr lang="en-US" sz="2400" dirty="0"/>
              <a:t> function chooses the best action for MAX by evaluating all possible moves. </a:t>
            </a:r>
            <a:r>
              <a:rPr lang="en-US" sz="2400" dirty="0">
                <a:latin typeface="Arial Unicode MS" panose="020B0604020202020204" pitchFamily="34" charset="-128"/>
              </a:rPr>
              <a:t>MAX-VALUE</a:t>
            </a:r>
            <a:r>
              <a:rPr lang="en-US" sz="2400" dirty="0"/>
              <a:t> computes the highest score MAX can force, while </a:t>
            </a:r>
            <a:r>
              <a:rPr lang="en-US" sz="2400" dirty="0">
                <a:latin typeface="Arial Unicode MS" panose="020B0604020202020204" pitchFamily="34" charset="-128"/>
              </a:rPr>
              <a:t>MIN-VALUE</a:t>
            </a:r>
            <a:r>
              <a:rPr lang="en-US" sz="2400" dirty="0"/>
              <a:t> computes the lowest score MIN can force. If a terminal state is reached, the utility of that state is returned. Otherwise, the algorithm explores all legal moves recursively and backs up the values until the best move is found. </a:t>
            </a:r>
            <a:endParaRPr 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884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5CE3BA4-5CB5-BFF6-338A-44FCD278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9E1ED0-D9A9-283C-7674-68930883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8480541" cy="8423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ALPHA–BETA PRUNING</a:t>
            </a:r>
            <a:r>
              <a:rPr lang="en-US" sz="4000" b="1" dirty="0"/>
              <a:t> </a:t>
            </a:r>
            <a:r>
              <a:rPr lang="en-US" sz="4000" b="1" dirty="0"/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4970EDA-C20D-5FEC-19A0-71CBC8DFE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159" y="1460206"/>
            <a:ext cx="8480543" cy="49405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Alpha–Beta pruning is an </a:t>
            </a:r>
            <a:r>
              <a:rPr lang="en-US" b="1" dirty="0"/>
              <a:t>optimization of the </a:t>
            </a:r>
            <a:r>
              <a:rPr lang="en-US" b="1" dirty="0" err="1"/>
              <a:t>minimax</a:t>
            </a:r>
            <a:r>
              <a:rPr lang="en-US" b="1" dirty="0"/>
              <a:t> algorithm</a:t>
            </a:r>
            <a:r>
              <a:rPr lang="en-US" dirty="0"/>
              <a:t> used in adversarial search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Avoid </a:t>
            </a:r>
            <a:r>
              <a:rPr lang="en-US" dirty="0"/>
              <a:t>exploring parts of the game tree that </a:t>
            </a:r>
            <a:r>
              <a:rPr lang="en-US" b="1" dirty="0"/>
              <a:t>cannot influence the final decision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B5CA24-DF79-A47B-E6F5-AF240BC6377B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29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5CE3BA4-5CB5-BFF6-338A-44FCD278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9E1ED0-D9A9-283C-7674-68930883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8480541" cy="8423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Why Do We Need Alpha–Beta?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94970EDA-C20D-5FEC-19A0-71CBC8DFEC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3159" y="1460206"/>
                <a:ext cx="8480543" cy="4940595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Problem </a:t>
                </a:r>
                <a:r>
                  <a:rPr lang="en-US" dirty="0"/>
                  <a:t>with </a:t>
                </a:r>
                <a:r>
                  <a:rPr lang="en-US" dirty="0" err="1"/>
                  <a:t>Minimax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Explores </a:t>
                </a:r>
                <a:r>
                  <a:rPr lang="en-US" b="1" dirty="0"/>
                  <a:t>entire tree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Time complexity: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Too </a:t>
                </a:r>
                <a:r>
                  <a:rPr lang="en-US" dirty="0"/>
                  <a:t>slow for complex games like chess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4970EDA-C20D-5FEC-19A0-71CBC8DFE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3159" y="1460206"/>
                <a:ext cx="8480543" cy="4940595"/>
              </a:xfrm>
              <a:blipFill rotWithShape="0">
                <a:blip r:embed="rId2"/>
                <a:stretch>
                  <a:fillRect l="-1510" t="-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B5CA24-DF79-A47B-E6F5-AF240BC6377B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51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5CE3BA4-5CB5-BFF6-338A-44FCD278E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9E1ED0-D9A9-283C-7674-68930883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8480541" cy="8423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Why Do We Need Alpha–Beta?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94970EDA-C20D-5FEC-19A0-71CBC8DFEC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3159" y="1460206"/>
                <a:ext cx="8480543" cy="4940595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Problem </a:t>
                </a:r>
                <a:r>
                  <a:rPr lang="en-US" dirty="0"/>
                  <a:t>with </a:t>
                </a:r>
                <a:r>
                  <a:rPr lang="en-US" dirty="0" err="1"/>
                  <a:t>Minimax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Explores </a:t>
                </a:r>
                <a:r>
                  <a:rPr lang="en-US" b="1" dirty="0"/>
                  <a:t>entire tree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Time complexity: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Too </a:t>
                </a:r>
                <a:r>
                  <a:rPr lang="en-US" dirty="0"/>
                  <a:t>slow for complex games like chess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4970EDA-C20D-5FEC-19A0-71CBC8DFE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3159" y="1460206"/>
                <a:ext cx="8480543" cy="4940595"/>
              </a:xfrm>
              <a:blipFill rotWithShape="0">
                <a:blip r:embed="rId2"/>
                <a:stretch>
                  <a:fillRect l="-1510" t="-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B5CA24-DF79-A47B-E6F5-AF240BC6377B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94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AEF331-3701-D312-CE09-5F66D320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0CE015-C9D8-D2EC-BAB1-C54BDE63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7275519" cy="118960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b="1" dirty="0"/>
              <a:t>Example (Numeric Tree)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7EB26EC-0B37-D7AA-9EE5-F6857F2F3023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BE84C36-8D0B-ACEF-6B2C-BA684B113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6230" y="1545771"/>
            <a:ext cx="8454570" cy="4580392"/>
          </a:xfrm>
        </p:spPr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Isosceles Triangle 2"/>
          <p:cNvSpPr/>
          <p:nvPr/>
        </p:nvSpPr>
        <p:spPr>
          <a:xfrm>
            <a:off x="5008459" y="1638300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Isosceles Triangle 6"/>
          <p:cNvSpPr/>
          <p:nvPr/>
        </p:nvSpPr>
        <p:spPr>
          <a:xfrm rot="10800000">
            <a:off x="2463379" y="3421380"/>
            <a:ext cx="1264920" cy="929640"/>
          </a:xfrm>
          <a:prstGeom prst="triangl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4943688" y="3408103"/>
            <a:ext cx="1264920" cy="929640"/>
          </a:xfrm>
          <a:prstGeom prst="triangl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5920422" y="5545100"/>
            <a:ext cx="63246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6</a:t>
            </a:r>
            <a:endParaRPr lang="en-US" b="1" dirty="0"/>
          </a:p>
        </p:txBody>
      </p:sp>
      <p:sp>
        <p:nvSpPr>
          <p:cNvPr id="12" name="Isosceles Triangle 11"/>
          <p:cNvSpPr/>
          <p:nvPr/>
        </p:nvSpPr>
        <p:spPr>
          <a:xfrm>
            <a:off x="5026384" y="5645909"/>
            <a:ext cx="632460" cy="840163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4</a:t>
            </a:r>
            <a:endParaRPr lang="en-US" b="1" dirty="0"/>
          </a:p>
        </p:txBody>
      </p:sp>
      <p:sp>
        <p:nvSpPr>
          <p:cNvPr id="13" name="Isosceles Triangle 12"/>
          <p:cNvSpPr/>
          <p:nvPr/>
        </p:nvSpPr>
        <p:spPr>
          <a:xfrm>
            <a:off x="4191764" y="5643850"/>
            <a:ext cx="645280" cy="844283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2</a:t>
            </a:r>
            <a:endParaRPr lang="en-US" b="1" dirty="0"/>
          </a:p>
        </p:txBody>
      </p:sp>
      <p:sp>
        <p:nvSpPr>
          <p:cNvPr id="14" name="Isosceles Triangle 13"/>
          <p:cNvSpPr/>
          <p:nvPr/>
        </p:nvSpPr>
        <p:spPr>
          <a:xfrm>
            <a:off x="3306519" y="5545100"/>
            <a:ext cx="63246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8</a:t>
            </a:r>
            <a:endParaRPr lang="en-US" sz="1400" b="1" dirty="0"/>
          </a:p>
        </p:txBody>
      </p:sp>
      <p:sp>
        <p:nvSpPr>
          <p:cNvPr id="15" name="Isosceles Triangle 14"/>
          <p:cNvSpPr/>
          <p:nvPr/>
        </p:nvSpPr>
        <p:spPr>
          <a:xfrm>
            <a:off x="2364554" y="5499211"/>
            <a:ext cx="873981" cy="977655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12</a:t>
            </a:r>
            <a:endParaRPr lang="en-US" sz="1100" b="1" dirty="0"/>
          </a:p>
        </p:txBody>
      </p:sp>
      <p:sp>
        <p:nvSpPr>
          <p:cNvPr id="16" name="Isosceles Triangle 15"/>
          <p:cNvSpPr/>
          <p:nvPr/>
        </p:nvSpPr>
        <p:spPr>
          <a:xfrm>
            <a:off x="1524000" y="5523218"/>
            <a:ext cx="768626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3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7" idx="0"/>
            <a:endCxn id="16" idx="0"/>
          </p:cNvCxnSpPr>
          <p:nvPr/>
        </p:nvCxnSpPr>
        <p:spPr>
          <a:xfrm flipH="1">
            <a:off x="1908313" y="4351020"/>
            <a:ext cx="1187526" cy="1172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0"/>
            <a:endCxn id="15" idx="0"/>
          </p:cNvCxnSpPr>
          <p:nvPr/>
        </p:nvCxnSpPr>
        <p:spPr>
          <a:xfrm flipH="1">
            <a:off x="2801545" y="4351020"/>
            <a:ext cx="294295" cy="1148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0"/>
            <a:endCxn id="14" idx="0"/>
          </p:cNvCxnSpPr>
          <p:nvPr/>
        </p:nvCxnSpPr>
        <p:spPr>
          <a:xfrm>
            <a:off x="3095839" y="4351020"/>
            <a:ext cx="526910" cy="1194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3" idx="0"/>
          </p:cNvCxnSpPr>
          <p:nvPr/>
        </p:nvCxnSpPr>
        <p:spPr>
          <a:xfrm flipH="1">
            <a:off x="4514405" y="4315371"/>
            <a:ext cx="1061743" cy="13284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0"/>
            <a:endCxn id="11" idx="0"/>
          </p:cNvCxnSpPr>
          <p:nvPr/>
        </p:nvCxnSpPr>
        <p:spPr>
          <a:xfrm>
            <a:off x="5576148" y="4337744"/>
            <a:ext cx="660504" cy="1207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0"/>
            <a:endCxn id="12" idx="0"/>
          </p:cNvCxnSpPr>
          <p:nvPr/>
        </p:nvCxnSpPr>
        <p:spPr>
          <a:xfrm flipH="1">
            <a:off x="5342614" y="4337744"/>
            <a:ext cx="233534" cy="1308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3" idx="3"/>
          </p:cNvCxnSpPr>
          <p:nvPr/>
        </p:nvCxnSpPr>
        <p:spPr>
          <a:xfrm flipH="1">
            <a:off x="3631383" y="2567940"/>
            <a:ext cx="2009537" cy="85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3" idx="3"/>
          </p:cNvCxnSpPr>
          <p:nvPr/>
        </p:nvCxnSpPr>
        <p:spPr>
          <a:xfrm>
            <a:off x="5640920" y="2567940"/>
            <a:ext cx="1894999" cy="929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10800000">
            <a:off x="7024279" y="3504353"/>
            <a:ext cx="1264920" cy="929640"/>
          </a:xfrm>
          <a:prstGeom prst="triangl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/>
          <p:cNvSpPr/>
          <p:nvPr/>
        </p:nvSpPr>
        <p:spPr>
          <a:xfrm>
            <a:off x="8517916" y="5508943"/>
            <a:ext cx="63246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2</a:t>
            </a:r>
            <a:endParaRPr lang="en-US" b="1" dirty="0"/>
          </a:p>
        </p:txBody>
      </p:sp>
      <p:sp>
        <p:nvSpPr>
          <p:cNvPr id="56" name="Isosceles Triangle 55"/>
          <p:cNvSpPr/>
          <p:nvPr/>
        </p:nvSpPr>
        <p:spPr>
          <a:xfrm>
            <a:off x="6771378" y="5484936"/>
            <a:ext cx="873981" cy="977655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14</a:t>
            </a:r>
            <a:endParaRPr lang="en-US" sz="1100" b="1" dirty="0"/>
          </a:p>
        </p:txBody>
      </p:sp>
      <p:sp>
        <p:nvSpPr>
          <p:cNvPr id="57" name="Isosceles Triangle 56"/>
          <p:cNvSpPr/>
          <p:nvPr/>
        </p:nvSpPr>
        <p:spPr>
          <a:xfrm>
            <a:off x="7656739" y="5587779"/>
            <a:ext cx="645280" cy="844283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5</a:t>
            </a:r>
            <a:endParaRPr lang="en-US" b="1" dirty="0"/>
          </a:p>
        </p:txBody>
      </p:sp>
      <p:cxnSp>
        <p:nvCxnSpPr>
          <p:cNvPr id="59" name="Straight Arrow Connector 58"/>
          <p:cNvCxnSpPr>
            <a:stCxn id="52" idx="0"/>
            <a:endCxn id="56" idx="0"/>
          </p:cNvCxnSpPr>
          <p:nvPr/>
        </p:nvCxnSpPr>
        <p:spPr>
          <a:xfrm flipH="1">
            <a:off x="7208369" y="4433993"/>
            <a:ext cx="448371" cy="1050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2" idx="0"/>
            <a:endCxn id="57" idx="0"/>
          </p:cNvCxnSpPr>
          <p:nvPr/>
        </p:nvCxnSpPr>
        <p:spPr>
          <a:xfrm>
            <a:off x="7656739" y="4433994"/>
            <a:ext cx="322640" cy="1153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52" idx="0"/>
            <a:endCxn id="54" idx="0"/>
          </p:cNvCxnSpPr>
          <p:nvPr/>
        </p:nvCxnSpPr>
        <p:spPr>
          <a:xfrm>
            <a:off x="7656740" y="4433993"/>
            <a:ext cx="1177407" cy="1074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" idx="3"/>
          </p:cNvCxnSpPr>
          <p:nvPr/>
        </p:nvCxnSpPr>
        <p:spPr>
          <a:xfrm>
            <a:off x="5640919" y="2567941"/>
            <a:ext cx="38756" cy="81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44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AEF331-3701-D312-CE09-5F66D320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0CE015-C9D8-D2EC-BAB1-C54BDE63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161" y="150101"/>
            <a:ext cx="7275519" cy="118960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b="1" dirty="0"/>
              <a:t>Example (Numeric Tree)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7EB26EC-0B37-D7AA-9EE5-F6857F2F3023}"/>
              </a:ext>
            </a:extLst>
          </p:cNvPr>
          <p:cNvSpPr txBox="1"/>
          <p:nvPr/>
        </p:nvSpPr>
        <p:spPr>
          <a:xfrm>
            <a:off x="8445796" y="64528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EE0000"/>
                </a:solidFill>
              </a:rPr>
              <a:t>Adversarial search</a:t>
            </a:r>
            <a:endParaRPr lang="en-US" dirty="0"/>
          </a:p>
        </p:txBody>
      </p:sp>
      <p:sp>
        <p:nvSpPr>
          <p:cNvPr id="3" name="Isosceles Triangle 2"/>
          <p:cNvSpPr/>
          <p:nvPr/>
        </p:nvSpPr>
        <p:spPr>
          <a:xfrm>
            <a:off x="5008459" y="1638300"/>
            <a:ext cx="126492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Isosceles Triangle 6"/>
          <p:cNvSpPr/>
          <p:nvPr/>
        </p:nvSpPr>
        <p:spPr>
          <a:xfrm rot="10800000">
            <a:off x="2463379" y="3421380"/>
            <a:ext cx="1264920" cy="929640"/>
          </a:xfrm>
          <a:prstGeom prst="triangl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4943688" y="3408103"/>
            <a:ext cx="1264920" cy="929640"/>
          </a:xfrm>
          <a:prstGeom prst="triangl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4191765" y="5609064"/>
            <a:ext cx="599543" cy="879069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2</a:t>
            </a:r>
            <a:endParaRPr lang="en-US" b="1" dirty="0"/>
          </a:p>
        </p:txBody>
      </p:sp>
      <p:sp>
        <p:nvSpPr>
          <p:cNvPr id="14" name="Isosceles Triangle 13"/>
          <p:cNvSpPr/>
          <p:nvPr/>
        </p:nvSpPr>
        <p:spPr>
          <a:xfrm>
            <a:off x="3306519" y="5545100"/>
            <a:ext cx="63246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8</a:t>
            </a:r>
            <a:endParaRPr lang="en-US" sz="1400" b="1" dirty="0"/>
          </a:p>
        </p:txBody>
      </p:sp>
      <p:sp>
        <p:nvSpPr>
          <p:cNvPr id="15" name="Isosceles Triangle 14"/>
          <p:cNvSpPr/>
          <p:nvPr/>
        </p:nvSpPr>
        <p:spPr>
          <a:xfrm>
            <a:off x="2364554" y="5499211"/>
            <a:ext cx="873981" cy="977655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12</a:t>
            </a:r>
            <a:endParaRPr lang="en-US" sz="1100" b="1" dirty="0"/>
          </a:p>
        </p:txBody>
      </p:sp>
      <p:sp>
        <p:nvSpPr>
          <p:cNvPr id="16" name="Isosceles Triangle 15"/>
          <p:cNvSpPr/>
          <p:nvPr/>
        </p:nvSpPr>
        <p:spPr>
          <a:xfrm>
            <a:off x="1524000" y="5523218"/>
            <a:ext cx="768626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3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7" idx="0"/>
            <a:endCxn id="16" idx="0"/>
          </p:cNvCxnSpPr>
          <p:nvPr/>
        </p:nvCxnSpPr>
        <p:spPr>
          <a:xfrm flipH="1">
            <a:off x="1908313" y="4351020"/>
            <a:ext cx="1187526" cy="1172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0"/>
            <a:endCxn id="15" idx="0"/>
          </p:cNvCxnSpPr>
          <p:nvPr/>
        </p:nvCxnSpPr>
        <p:spPr>
          <a:xfrm flipH="1">
            <a:off x="2801545" y="4351020"/>
            <a:ext cx="294295" cy="1148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0"/>
            <a:endCxn id="14" idx="0"/>
          </p:cNvCxnSpPr>
          <p:nvPr/>
        </p:nvCxnSpPr>
        <p:spPr>
          <a:xfrm>
            <a:off x="3095839" y="4351020"/>
            <a:ext cx="526910" cy="1194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3" idx="0"/>
          </p:cNvCxnSpPr>
          <p:nvPr/>
        </p:nvCxnSpPr>
        <p:spPr>
          <a:xfrm flipH="1">
            <a:off x="4491536" y="4315371"/>
            <a:ext cx="1084612" cy="1293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0"/>
          </p:cNvCxnSpPr>
          <p:nvPr/>
        </p:nvCxnSpPr>
        <p:spPr>
          <a:xfrm>
            <a:off x="5576148" y="4337744"/>
            <a:ext cx="660504" cy="1207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0"/>
          </p:cNvCxnSpPr>
          <p:nvPr/>
        </p:nvCxnSpPr>
        <p:spPr>
          <a:xfrm flipH="1">
            <a:off x="5360470" y="4337744"/>
            <a:ext cx="215678" cy="1327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3" idx="3"/>
          </p:cNvCxnSpPr>
          <p:nvPr/>
        </p:nvCxnSpPr>
        <p:spPr>
          <a:xfrm flipH="1">
            <a:off x="3631383" y="2567940"/>
            <a:ext cx="2009537" cy="853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3" idx="3"/>
          </p:cNvCxnSpPr>
          <p:nvPr/>
        </p:nvCxnSpPr>
        <p:spPr>
          <a:xfrm>
            <a:off x="5640920" y="2567940"/>
            <a:ext cx="1894999" cy="929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 rot="10800000">
            <a:off x="7024279" y="3504353"/>
            <a:ext cx="1264920" cy="929640"/>
          </a:xfrm>
          <a:prstGeom prst="triangl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Isosceles Triangle 53"/>
          <p:cNvSpPr/>
          <p:nvPr/>
        </p:nvSpPr>
        <p:spPr>
          <a:xfrm>
            <a:off x="8517916" y="5508943"/>
            <a:ext cx="632460" cy="929640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2</a:t>
            </a:r>
            <a:endParaRPr lang="en-US" b="1" dirty="0"/>
          </a:p>
        </p:txBody>
      </p:sp>
      <p:sp>
        <p:nvSpPr>
          <p:cNvPr id="56" name="Isosceles Triangle 55"/>
          <p:cNvSpPr/>
          <p:nvPr/>
        </p:nvSpPr>
        <p:spPr>
          <a:xfrm>
            <a:off x="6771378" y="5484936"/>
            <a:ext cx="873981" cy="977655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14</a:t>
            </a:r>
            <a:endParaRPr lang="en-US" sz="1100" b="1" dirty="0"/>
          </a:p>
        </p:txBody>
      </p:sp>
      <p:sp>
        <p:nvSpPr>
          <p:cNvPr id="57" name="Isosceles Triangle 56"/>
          <p:cNvSpPr/>
          <p:nvPr/>
        </p:nvSpPr>
        <p:spPr>
          <a:xfrm>
            <a:off x="7656739" y="5587779"/>
            <a:ext cx="645280" cy="844283"/>
          </a:xfrm>
          <a:prstGeom prst="triangl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/>
              <a:t>5</a:t>
            </a:r>
            <a:endParaRPr lang="en-US" b="1" dirty="0"/>
          </a:p>
        </p:txBody>
      </p:sp>
      <p:cxnSp>
        <p:nvCxnSpPr>
          <p:cNvPr id="59" name="Straight Arrow Connector 58"/>
          <p:cNvCxnSpPr>
            <a:stCxn id="52" idx="0"/>
            <a:endCxn id="56" idx="0"/>
          </p:cNvCxnSpPr>
          <p:nvPr/>
        </p:nvCxnSpPr>
        <p:spPr>
          <a:xfrm flipH="1">
            <a:off x="7208369" y="4433993"/>
            <a:ext cx="448371" cy="1050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52" idx="0"/>
            <a:endCxn id="57" idx="0"/>
          </p:cNvCxnSpPr>
          <p:nvPr/>
        </p:nvCxnSpPr>
        <p:spPr>
          <a:xfrm>
            <a:off x="7656739" y="4433994"/>
            <a:ext cx="322640" cy="1153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52" idx="0"/>
            <a:endCxn id="54" idx="0"/>
          </p:cNvCxnSpPr>
          <p:nvPr/>
        </p:nvCxnSpPr>
        <p:spPr>
          <a:xfrm>
            <a:off x="7656740" y="4433993"/>
            <a:ext cx="1177407" cy="1074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3" idx="3"/>
          </p:cNvCxnSpPr>
          <p:nvPr/>
        </p:nvCxnSpPr>
        <p:spPr>
          <a:xfrm>
            <a:off x="5640919" y="2567941"/>
            <a:ext cx="38756" cy="8117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783155" y="994648"/>
            <a:ext cx="1535998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latin typeface="Arial" panose="020B0604020202020204" pitchFamily="34" charset="0"/>
              </a:rPr>
              <a:t>α = -∞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>
                <a:latin typeface="Arial" panose="020B0604020202020204" pitchFamily="34" charset="0"/>
              </a:rPr>
              <a:t>β = +∞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660842" y="3469145"/>
            <a:ext cx="32464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4000" dirty="0"/>
              <a:t>β = </a:t>
            </a:r>
            <a:r>
              <a:rPr lang="en-US" sz="4000" dirty="0"/>
              <a:t>min(</a:t>
            </a:r>
            <a:r>
              <a:rPr lang="el-GR" sz="4000" dirty="0"/>
              <a:t>3</a:t>
            </a:r>
            <a:r>
              <a:rPr lang="en-US" sz="4000" dirty="0"/>
              <a:t>, +</a:t>
            </a:r>
            <a:r>
              <a:rPr lang="en-US" sz="4000" dirty="0"/>
              <a:t>∞)</a:t>
            </a:r>
            <a:endParaRPr lang="en-US" sz="4000" dirty="0"/>
          </a:p>
        </p:txBody>
      </p:sp>
      <p:sp>
        <p:nvSpPr>
          <p:cNvPr id="36" name="Rectangle 35"/>
          <p:cNvSpPr/>
          <p:nvPr/>
        </p:nvSpPr>
        <p:spPr>
          <a:xfrm>
            <a:off x="1683029" y="3472071"/>
            <a:ext cx="307450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4000" dirty="0"/>
              <a:t>β = </a:t>
            </a:r>
            <a:r>
              <a:rPr lang="en-US" sz="4000" dirty="0"/>
              <a:t>min(</a:t>
            </a:r>
            <a:r>
              <a:rPr lang="el-GR" sz="4000" dirty="0"/>
              <a:t>3</a:t>
            </a:r>
            <a:r>
              <a:rPr lang="en-US" sz="4000" dirty="0"/>
              <a:t>, </a:t>
            </a:r>
            <a:r>
              <a:rPr lang="en-US" sz="4000" dirty="0"/>
              <a:t>12)</a:t>
            </a:r>
            <a:endParaRPr lang="en-US" sz="4000" dirty="0"/>
          </a:p>
        </p:txBody>
      </p:sp>
      <p:sp>
        <p:nvSpPr>
          <p:cNvPr id="38" name="Rectangle 37"/>
          <p:cNvSpPr/>
          <p:nvPr/>
        </p:nvSpPr>
        <p:spPr>
          <a:xfrm>
            <a:off x="1660845" y="3475770"/>
            <a:ext cx="281359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4000" dirty="0"/>
              <a:t>β = </a:t>
            </a:r>
            <a:r>
              <a:rPr lang="en-US" sz="4000" dirty="0"/>
              <a:t>min(</a:t>
            </a:r>
            <a:r>
              <a:rPr lang="el-GR" sz="4000" dirty="0"/>
              <a:t>3</a:t>
            </a:r>
            <a:r>
              <a:rPr lang="en-US" sz="4000" dirty="0"/>
              <a:t>, 8</a:t>
            </a:r>
            <a:r>
              <a:rPr lang="en-US" sz="4000" dirty="0"/>
              <a:t>)</a:t>
            </a:r>
            <a:endParaRPr lang="en-US" sz="4000" dirty="0"/>
          </a:p>
        </p:txBody>
      </p:sp>
      <p:sp>
        <p:nvSpPr>
          <p:cNvPr id="39" name="Rectangle 38"/>
          <p:cNvSpPr/>
          <p:nvPr/>
        </p:nvSpPr>
        <p:spPr>
          <a:xfrm>
            <a:off x="2716700" y="3304923"/>
            <a:ext cx="7264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400" dirty="0"/>
              <a:t>β </a:t>
            </a:r>
            <a:r>
              <a:rPr lang="el-GR" sz="2400" dirty="0"/>
              <a:t>=3</a:t>
            </a:r>
            <a:endParaRPr lang="en-US" sz="2400" dirty="0"/>
          </a:p>
        </p:txBody>
      </p:sp>
      <p:sp>
        <p:nvSpPr>
          <p:cNvPr id="26" name="Rectangle 25"/>
          <p:cNvSpPr/>
          <p:nvPr/>
        </p:nvSpPr>
        <p:spPr>
          <a:xfrm>
            <a:off x="4277321" y="1862255"/>
            <a:ext cx="29003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800" b="1" dirty="0"/>
              <a:t>α = </a:t>
            </a:r>
            <a:r>
              <a:rPr lang="en-US" sz="2800" b="1" dirty="0"/>
              <a:t>max(-∞, 3) =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9867" y="3613667"/>
            <a:ext cx="795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400" b="1" dirty="0"/>
              <a:t>β = 2</a:t>
            </a:r>
            <a:endParaRPr lang="en-US" sz="2400" b="1" dirty="0"/>
          </a:p>
        </p:txBody>
      </p:sp>
      <p:sp>
        <p:nvSpPr>
          <p:cNvPr id="41" name="Rectangle 40"/>
          <p:cNvSpPr/>
          <p:nvPr/>
        </p:nvSpPr>
        <p:spPr>
          <a:xfrm>
            <a:off x="7171290" y="3633690"/>
            <a:ext cx="950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400" b="1" dirty="0"/>
              <a:t>β = 14</a:t>
            </a:r>
            <a:endParaRPr lang="en-US" sz="2400" b="1" dirty="0"/>
          </a:p>
        </p:txBody>
      </p:sp>
      <p:sp>
        <p:nvSpPr>
          <p:cNvPr id="42" name="Rectangle 41"/>
          <p:cNvSpPr/>
          <p:nvPr/>
        </p:nvSpPr>
        <p:spPr>
          <a:xfrm>
            <a:off x="7138213" y="3624447"/>
            <a:ext cx="795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400" b="1" dirty="0"/>
              <a:t>β = </a:t>
            </a:r>
            <a:r>
              <a:rPr lang="en-US" sz="2400" b="1" dirty="0"/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1290" y="3640463"/>
            <a:ext cx="795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400" b="1" dirty="0"/>
              <a:t>β = </a:t>
            </a:r>
            <a:r>
              <a:rPr lang="en-US" sz="2400" b="1" dirty="0"/>
              <a:t>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363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4" grpId="0" animBg="1"/>
      <p:bldP spid="15" grpId="0" animBg="1"/>
      <p:bldP spid="16" grpId="0" animBg="1"/>
      <p:bldP spid="54" grpId="0" animBg="1"/>
      <p:bldP spid="56" grpId="0" animBg="1"/>
      <p:bldP spid="57" grpId="0" animBg="1"/>
      <p:bldP spid="8" grpId="0"/>
      <p:bldP spid="20" grpId="0"/>
      <p:bldP spid="20" grpId="1"/>
      <p:bldP spid="36" grpId="0"/>
      <p:bldP spid="36" grpId="1"/>
      <p:bldP spid="38" grpId="0"/>
      <p:bldP spid="38" grpId="1"/>
      <p:bldP spid="39" grpId="0"/>
      <p:bldP spid="26" grpId="0"/>
      <p:bldP spid="32" grpId="0"/>
      <p:bldP spid="41" grpId="0"/>
      <p:bldP spid="41" grpId="1"/>
      <p:bldP spid="42" grpId="0"/>
      <p:bldP spid="42" grpId="1"/>
      <p:bldP spid="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</Words>
  <Application>Microsoft Office PowerPoint</Application>
  <PresentationFormat>Widescreen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 Unicode MS</vt:lpstr>
      <vt:lpstr>Arial</vt:lpstr>
      <vt:lpstr>Calibri</vt:lpstr>
      <vt:lpstr>Calibri Light</vt:lpstr>
      <vt:lpstr>Cambria Math</vt:lpstr>
      <vt:lpstr>Office Theme</vt:lpstr>
      <vt:lpstr>ADVERSARIAL SEARCH: MINIMAX &amp; ALPHA–BETA PRUNING</vt:lpstr>
      <vt:lpstr>Adversarial search</vt:lpstr>
      <vt:lpstr>Adversarial search</vt:lpstr>
      <vt:lpstr>Adversarial search</vt:lpstr>
      <vt:lpstr>Types of Games </vt:lpstr>
      <vt:lpstr>MINIMAX ALGORITHM</vt:lpstr>
      <vt:lpstr>Adversarial search</vt:lpstr>
      <vt:lpstr>Concept of Minimax</vt:lpstr>
      <vt:lpstr>How Minimax Works</vt:lpstr>
      <vt:lpstr> Game Representation  Parts needed to play a Game</vt:lpstr>
      <vt:lpstr> Game Representation  Parts needed to play a Game</vt:lpstr>
      <vt:lpstr> Game Representation  Parts needed to play a Game</vt:lpstr>
      <vt:lpstr> Game Representation  Parts needed to play a Game</vt:lpstr>
      <vt:lpstr> Game Representation  Parts needed to play a Game</vt:lpstr>
      <vt:lpstr> Game Representation  Parts needed to play a Game</vt:lpstr>
      <vt:lpstr>Where things get Interesting</vt:lpstr>
      <vt:lpstr>Example (Numeric Tree)</vt:lpstr>
      <vt:lpstr> Game Representation  Parts needed to play a Game</vt:lpstr>
      <vt:lpstr> Game Representation  Parts needed to play a Game</vt:lpstr>
      <vt:lpstr>ALPHA–BETA PRUNING ALGORITHM</vt:lpstr>
      <vt:lpstr>Why Do We Need Alpha–Beta?</vt:lpstr>
      <vt:lpstr>Why Do We Need Alpha–Beta?</vt:lpstr>
      <vt:lpstr>Example (Numeric Tree)</vt:lpstr>
      <vt:lpstr>Example (Numeric Tree)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SEARCH: MINIMAX &amp; ALPHA–BETA PRUNING</dc:title>
  <dc:creator>Microsoft account</dc:creator>
  <cp:lastModifiedBy>Microsoft account</cp:lastModifiedBy>
  <cp:revision>1</cp:revision>
  <dcterms:created xsi:type="dcterms:W3CDTF">2026-04-12T20:28:02Z</dcterms:created>
  <dcterms:modified xsi:type="dcterms:W3CDTF">2026-04-12T20:28:26Z</dcterms:modified>
</cp:coreProperties>
</file>